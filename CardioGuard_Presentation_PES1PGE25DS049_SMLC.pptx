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Patients</c:v>
                </c:pt>
              </c:strCache>
            </c:strRef>
          </c:tx>
          <c:spPr>
            <a:solidFill>
              <a:srgbClr val="123C4A"/>
            </a:solidFill>
            <a:effectLst/>
          </c:spPr>
          <c:invertIfNegative val="0"/>
          <c:dLbls>
            <c:numFmt formatCode="#,##0" sourceLinked="0"/>
            <c:txPr>
              <a:bodyPr/>
              <a:lstStyle/>
              <a:p>
                <a:pPr>
                  <a:defRPr b="0" i="0" strike="noStrike" sz="1200" u="none">
                    <a:solidFill>
                      <a:srgbClr val="132B31"/>
                    </a:solidFill>
                    <a:latin typeface="Arial"/>
                  </a:defRPr>
                </a:pPr>
              </a:p>
            </c:txPr>
            <c:showLegendKey val="0"/>
            <c:showVal val="1"/>
            <c:showCatName val="0"/>
            <c:showSerName val="0"/>
            <c:showPercent val="0"/>
            <c:showBubbleSize val="0"/>
            <c:showLeaderLines val="0"/>
          </c:dLbls>
          <c:dPt>
            <c:idx val="0"/>
            <c:invertIfNegative val="0"/>
            <c:bubble3D val="0"/>
            <c:spPr>
              <a:solidFill>
                <a:srgbClr val="123C4A"/>
              </a:solidFill>
              <a:effectLst/>
            </c:spPr>
          </c:dPt>
          <c:dPt>
            <c:idx val="1"/>
            <c:invertIfNegative val="0"/>
            <c:bubble3D val="0"/>
            <c:spPr>
              <a:solidFill>
                <a:srgbClr val="E4572E"/>
              </a:solidFill>
              <a:effectLst/>
            </c:spPr>
          </c:dPt>
          <c:cat>
            <c:multiLvlStrRef>
              <c:f>Sheet1!$A$2:$A$3</c:f>
              <c:multiLvlStrCache>
                <c:ptCount val="2"/>
                <c:lvl>
                  <c:pt idx="0">
                    <c:v>No Disease (0)</c:v>
                  </c:pt>
                  <c:pt idx="1">
                    <c:v>Disease (1)</c:v>
                  </c:pt>
                </c:lvl>
              </c:multiLvlStrCache>
            </c:multiLvlStrRef>
          </c:cat>
          <c:val>
            <c:numRef>
              <c:f>Sheet1!$B$2:$B$3</c:f>
              <c:numCache>
                <c:formatCode>General</c:formatCode>
                <c:ptCount val="2"/>
                <c:pt idx="0">
                  <c:v>138</c:v>
                </c:pt>
                <c:pt idx="1">
                  <c:v>164</c:v>
                </c:pt>
              </c:numCache>
            </c:numRef>
          </c:val>
        </c:ser>
        <c:dLbls>
          <c:numFmt formatCode="#,##0" sourceLinked="0"/>
          <c:txPr>
            <a:bodyPr/>
            <a:lstStyle/>
            <a:p>
              <a:pPr>
                <a:defRPr b="0" i="0" strike="noStrike" sz="1200" u="none">
                  <a:solidFill>
                    <a:srgbClr val="132B3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32B31"/>
                </a:solidFill>
                <a:latin typeface="Arial"/>
              </a:defRPr>
            </a:pPr>
            <a:endParaRPr lang="en-US"/>
          </a:p>
        </c:txPr>
        <c:crossAx val="2094734552"/>
        <c:crosses val="autoZero"/>
        <c:auto val="1"/>
        <c:lblAlgn val="ctr"/>
        <c:noMultiLvlLbl val="1"/>
      </c:catAx>
      <c:valAx>
        <c:axId val="2094734552"/>
        <c:scaling>
          <c:orientation val="minMax"/>
          <c:max val="200"/>
        </c:scaling>
        <c:delete val="0"/>
        <c:axPos val="l"/>
        <c:majorGridlines>
          <c:spPr>
            <a:ln w="9525" cap="flat">
              <a:solidFill>
                <a:srgbClr val="DDDD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7A7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CV ROC-AUC (train)</c:v>
                </c:pt>
              </c:strCache>
            </c:strRef>
          </c:tx>
          <c:spPr>
            <a:solidFill>
              <a:srgbClr val="123C4A"/>
            </a:solidFill>
            <a:effectLst/>
          </c:spPr>
          <c:invertIfNegative val="0"/>
          <c:dLbls>
            <c:numFmt formatCode="0.000" sourceLinked="0"/>
            <c:txPr>
              <a:bodyPr/>
              <a:lstStyle/>
              <a:p>
                <a:pPr>
                  <a:defRPr b="0" i="0" strike="noStrike" sz="900" u="none">
                    <a:solidFill>
                      <a:srgbClr val="132B31"/>
                    </a:solidFill>
                    <a:latin typeface="Arial"/>
                  </a:defRPr>
                </a:pPr>
              </a:p>
            </c:txPr>
            <c:showLegendKey val="0"/>
            <c:showVal val="1"/>
            <c:showCatName val="0"/>
            <c:showSerName val="0"/>
            <c:showPercent val="0"/>
            <c:showBubbleSize val="0"/>
            <c:showLeaderLines val="0"/>
          </c:dLbls>
          <c:cat>
            <c:multiLvlStrRef>
              <c:f>Sheet1!$A$2:$A$7</c:f>
              <c:multiLvlStrCache>
                <c:ptCount val="6"/>
                <c:lvl>
                  <c:pt idx="0">
                    <c:v>Log. Reg.</c:v>
                  </c:pt>
                  <c:pt idx="1">
                    <c:v>KNN</c:v>
                  </c:pt>
                  <c:pt idx="2">
                    <c:v>Decision Tree</c:v>
                  </c:pt>
                  <c:pt idx="3">
                    <c:v>Random Forest</c:v>
                  </c:pt>
                  <c:pt idx="4">
                    <c:v>SVM (RBF)</c:v>
                  </c:pt>
                  <c:pt idx="5">
                    <c:v>Grad. Boosting</c:v>
                  </c:pt>
                </c:lvl>
              </c:multiLvlStrCache>
            </c:multiLvlStrRef>
          </c:cat>
          <c:val>
            <c:numRef>
              <c:f>Sheet1!$B$2:$B$7</c:f>
              <c:numCache>
                <c:formatCode>General</c:formatCode>
                <c:ptCount val="6"/>
                <c:pt idx="0">
                  <c:v>0.896</c:v>
                </c:pt>
                <c:pt idx="1">
                  <c:v>0.889</c:v>
                </c:pt>
                <c:pt idx="2">
                  <c:v>0.826</c:v>
                </c:pt>
                <c:pt idx="3">
                  <c:v>0.894</c:v>
                </c:pt>
                <c:pt idx="4">
                  <c:v>0.883</c:v>
                </c:pt>
                <c:pt idx="5">
                  <c:v>0.89</c:v>
                </c:pt>
              </c:numCache>
            </c:numRef>
          </c:val>
        </c:ser>
        <c:ser>
          <c:idx val="1"/>
          <c:order val="1"/>
          <c:tx>
            <c:strRef>
              <c:f>Sheet1!$C$1</c:f>
              <c:strCache>
                <c:ptCount val="1"/>
                <c:pt idx="0">
                  <c:v>Test ROC-AUC</c:v>
                </c:pt>
              </c:strCache>
            </c:strRef>
          </c:tx>
          <c:spPr>
            <a:solidFill>
              <a:srgbClr val="E4572E"/>
            </a:solidFill>
            <a:effectLst/>
          </c:spPr>
          <c:invertIfNegative val="0"/>
          <c:dLbls>
            <c:numFmt formatCode="0.000" sourceLinked="0"/>
            <c:txPr>
              <a:bodyPr/>
              <a:lstStyle/>
              <a:p>
                <a:pPr>
                  <a:defRPr b="0" i="0" strike="noStrike" sz="900" u="none">
                    <a:solidFill>
                      <a:srgbClr val="132B31"/>
                    </a:solidFill>
                    <a:latin typeface="Arial"/>
                  </a:defRPr>
                </a:pPr>
              </a:p>
            </c:txPr>
            <c:showLegendKey val="0"/>
            <c:showVal val="1"/>
            <c:showCatName val="0"/>
            <c:showSerName val="0"/>
            <c:showPercent val="0"/>
            <c:showBubbleSize val="0"/>
            <c:showLeaderLines val="0"/>
          </c:dLbls>
          <c:cat>
            <c:multiLvlStrRef>
              <c:f>Sheet1!$A$2:$A$7</c:f>
              <c:multiLvlStrCache>
                <c:ptCount val="6"/>
                <c:lvl>
                  <c:pt idx="0">
                    <c:v>Log. Reg.</c:v>
                  </c:pt>
                  <c:pt idx="1">
                    <c:v>KNN</c:v>
                  </c:pt>
                  <c:pt idx="2">
                    <c:v>Decision Tree</c:v>
                  </c:pt>
                  <c:pt idx="3">
                    <c:v>Random Forest</c:v>
                  </c:pt>
                  <c:pt idx="4">
                    <c:v>SVM (RBF)</c:v>
                  </c:pt>
                  <c:pt idx="5">
                    <c:v>Grad. Boosting</c:v>
                  </c:pt>
                </c:lvl>
              </c:multiLvlStrCache>
            </c:multiLvlStrRef>
          </c:cat>
          <c:val>
            <c:numRef>
              <c:f>Sheet1!$C$2:$C$7</c:f>
              <c:numCache>
                <c:formatCode>General</c:formatCode>
                <c:ptCount val="6"/>
                <c:pt idx="0">
                  <c:v>0.872</c:v>
                </c:pt>
                <c:pt idx="1">
                  <c:v>0.892</c:v>
                </c:pt>
                <c:pt idx="2">
                  <c:v>0.708</c:v>
                </c:pt>
                <c:pt idx="3">
                  <c:v>0.886</c:v>
                </c:pt>
                <c:pt idx="4">
                  <c:v>0.918</c:v>
                </c:pt>
                <c:pt idx="5">
                  <c:v>0.874</c:v>
                </c:pt>
              </c:numCache>
            </c:numRef>
          </c:val>
        </c:ser>
        <c:dLbls>
          <c:numFmt formatCode="0.000" sourceLinked="0"/>
          <c:txPr>
            <a:bodyPr/>
            <a:lstStyle/>
            <a:p>
              <a:pPr>
                <a:defRPr b="0" i="0" strike="noStrike" sz="900" u="none">
                  <a:solidFill>
                    <a:srgbClr val="132B31"/>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32B31"/>
                </a:solidFill>
                <a:latin typeface="Arial"/>
              </a:defRPr>
            </a:pPr>
            <a:endParaRPr lang="en-US"/>
          </a:p>
        </c:txPr>
        <c:crossAx val="2094734552"/>
        <c:crosses val="autoZero"/>
        <c:auto val="1"/>
        <c:lblAlgn val="ctr"/>
        <c:noMultiLvlLbl val="1"/>
      </c:catAx>
      <c:valAx>
        <c:axId val="2094734552"/>
        <c:scaling>
          <c:orientation val="minMax"/>
          <c:max val="1"/>
          <c:min val="0.6"/>
        </c:scaling>
        <c:delete val="0"/>
        <c:axPos val="l"/>
        <c:majorGridlines>
          <c:spPr>
            <a:ln w="9525" cap="flat">
              <a:solidFill>
                <a:srgbClr val="DDDD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7A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32B31"/>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Δ ROC-AUC when shuffled</c:v>
                </c:pt>
              </c:strCache>
            </c:strRef>
          </c:tx>
          <c:spPr>
            <a:solidFill>
              <a:srgbClr val="2E9E6B"/>
            </a:solidFill>
            <a:effectLst/>
          </c:spPr>
          <c:invertIfNegative val="0"/>
          <c:dLbls>
            <c:numFmt formatCode="0.000" sourceLinked="0"/>
            <c:txPr>
              <a:bodyPr/>
              <a:lstStyle/>
              <a:p>
                <a:pPr>
                  <a:defRPr b="0" i="0" strike="noStrike" sz="900" u="none">
                    <a:solidFill>
                      <a:srgbClr val="132B31"/>
                    </a:solidFill>
                    <a:latin typeface="Arial"/>
                  </a:defRPr>
                </a:pPr>
              </a:p>
            </c:txPr>
            <c:showLegendKey val="0"/>
            <c:showVal val="1"/>
            <c:showCatName val="0"/>
            <c:showSerName val="0"/>
            <c:showPercent val="0"/>
            <c:showBubbleSize val="0"/>
            <c:showLeaderLines val="0"/>
          </c:dLbls>
          <c:cat>
            <c:multiLvlStrRef>
              <c:f>Sheet1!$A$2:$A$9</c:f>
              <c:multiLvlStrCache>
                <c:ptCount val="8"/>
                <c:lvl>
                  <c:pt idx="0">
                    <c:v>ca</c:v>
                  </c:pt>
                  <c:pt idx="1">
                    <c:v>thal</c:v>
                  </c:pt>
                  <c:pt idx="2">
                    <c:v>thalach</c:v>
                  </c:pt>
                  <c:pt idx="3">
                    <c:v>oldpeak</c:v>
                  </c:pt>
                  <c:pt idx="4">
                    <c:v>sex</c:v>
                  </c:pt>
                  <c:pt idx="5">
                    <c:v>cp</c:v>
                  </c:pt>
                  <c:pt idx="6">
                    <c:v>age</c:v>
                  </c:pt>
                  <c:pt idx="7">
                    <c:v>exang</c:v>
                  </c:pt>
                </c:lvl>
              </c:multiLvlStrCache>
            </c:multiLvlStrRef>
          </c:cat>
          <c:val>
            <c:numRef>
              <c:f>Sheet1!$B$2:$B$9</c:f>
              <c:numCache>
                <c:formatCode>General</c:formatCode>
                <c:ptCount val="8"/>
                <c:pt idx="0">
                  <c:v>0.0708</c:v>
                </c:pt>
                <c:pt idx="1">
                  <c:v>0.0379</c:v>
                </c:pt>
                <c:pt idx="2">
                  <c:v>0.0172</c:v>
                </c:pt>
                <c:pt idx="3">
                  <c:v>0.0158</c:v>
                </c:pt>
                <c:pt idx="4">
                  <c:v>0.0148</c:v>
                </c:pt>
                <c:pt idx="5">
                  <c:v>0.0147</c:v>
                </c:pt>
                <c:pt idx="6">
                  <c:v>0.0031</c:v>
                </c:pt>
                <c:pt idx="7">
                  <c:v>0.0028</c:v>
                </c:pt>
              </c:numCache>
            </c:numRef>
          </c:val>
        </c:ser>
        <c:dLbls>
          <c:numFmt formatCode="0.000" sourceLinked="0"/>
          <c:txPr>
            <a:bodyPr/>
            <a:lstStyle/>
            <a:p>
              <a:pPr>
                <a:defRPr b="0" i="0" strike="noStrike" sz="900" u="none">
                  <a:solidFill>
                    <a:srgbClr val="132B3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32B31"/>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DDDDD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5B7A7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My name is Rahul Patidar, and today I'll be presenting CardioGuard — an explainable heart disease risk classifier built for the SMLC mini project, under the guidance of Dr. Shylaja S. Sharath. The core idea: take standard clinical measurements, predict heart disease risk with a rigorously validated ensemble model, and — just as importantly — explain WHY the model made that prediction, not just give a black-box number. [Pause, then move to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why this matters. Heart disease is the #1 cause of death globally, and clinicians currently assess risk manually by combining many measurements — which is inconsistent and hard to scale. Our project has three goals: first, PREDICT — build a binary classifier using 13 standard clinical features. Second, VALIDATE rigorously — no data leakage, proper cross-validation, and a held-out test set we never touch until the very end. Third, EXPLAIN — every prediction comes with the clinical reasons behind it. We're working with 302 unique patients from the well-known UCI Cleveland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look at the data. We have 13 clinical features split into three types: 6 continuous features like age and cholesterol which we standardize; 3 binary features like sex and fasting blood sugar which we pass through as-is; and 4 nominal categorical codes — chest pain type, resting ECG, ST slope, and thalassemia — which we one-hot encode, because the numeric codes for these aren't consistently documented across sources, so we don't assume any ordering. The classes are fairly balanced — 164 disease-positive, 138 disease-negative. We split 80/20: 241 patients for training and tuning, 61 held out for final testing, never touched until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a few people asked what these column codes actually mean in plain English, I added a two-slide reference. This first slide covers age, sex, chest pain type, resting blood pressure, cholesterol, fasting blood sugar, and resting ECG — with their full names, what they measure, and roughly what a healthy value looks like. The categorical codes like chest pain type and resting ECG don't have one single 'good' value since they're categories, not a scale — and as noted, their exact numeric meaning varies slightly across public copies of this dataset, which is why we one-hot encode them instead of assuming an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second reference slide covers the exercise-test and imaging features: max heart rate achieved, exercise-induced angina, ST depression, ST slope, number of major vessels colored, and thalassemia result. Quick reminder tied back to our explainability slide — 'ca' and 'thal', the last two rows here, are exactly the two features that came out as most important in our permutation importance analysis, and both are well-established cardiology risk markers, which is a nice consistency check on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full pipeline. Step 1: preprocess with a ColumnTransformer wrapped inside a scikit-learn Pipeline, so preprocessing is fit ONLY on training data — no leakage, even during cross-validation. Step 2: we tune SIX different classifiers — Logistic Regression, KNN, Decision Tree, Random Forest, SVM, and Gradient Boosting — each with GridSearchCV over 5-fold stratified cross-validation, optimizing ROC-AUC. Step 3, and this is the key novelty: instead of picking one 'best' model, we STACK the top three tuned models — Logistic Regression, Random Forest, and Gradient Boosting — with a Logistic Regression meta-learner on top, and we choose this combination purely by cross-validated ROC-AUC, never by peeking at the test set. Step 4: we explain and deploy — permutation importance, SHAP values, and a single saved pipeline file that powers our live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the six tuned models compare. The teal bars are cross-validated ROC-AUC on training data; the orange bars are performance on the untouched test set. Notice Logistic Regression leads on cross-validation at 0.896 — there's a strong linear signal in this data. But SVM generalizes best to the real test set, at 0.918. Decision Tree is clearly the weakest, and has the biggest gap between CV and test performance — classic sign of overfitting with a single tree on a small dataset. The key takeaway: no single model wins on both views. That's exactly why we don't just pick 'the best model' — we combine several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final results. The stacking ensemble — Logistic Regression, Random Forest, and Gradient Boosting combined — achieves 0.898 cross-validated ROC-AUC and 0.881 on the completely untouched test set, with 77% accuracy. Looking at the confusion matrix: out of 61 test patients, we correctly identify 28 of 33 disease cases and 19 of 28 healthy cases. As a sanity check — always good to include — a model that just guessed the majority class every time would get 54.1% accuracy. We're at 77%, so the model is genuinely learning signal, not just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I'm most proud of — explainability. On the left, global permutation importance: we shuffle each feature and measure how much test ROC-AUC drops. The number of major vessels colored by fluoroscopy, 'ca', and thalassemia result, 'thal', are by far the most important — which lines up with what cardiologists already know are strong risk markers. On the right, we go local: using SHAP TreeExplainer on the Random Forest component, we can explain any INDIVIDUAL patient's prediction — for example, showing that a specific patient's thal value is pushing their risk score up by 0.18. So it's not a black box — every prediction comes with a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this isn't just a notebook exercise — it's deployed. The same trained pipeline file powers two interfaces: a Streamlit web app, shown on the left, where you enter patient details and get a risk score with the top SHAP factors; and an ipywidgets dashboard embedded right in the notebook for a quick, self-contained demo without needing a server. Both load from the exact same joblib file, so there's zero risk of the scaler and model getting out of sync. [If time permits: This is where I'd switch to a live demo of the Streamlit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we built a tuned stacking ensemble that beats every individually-tuned model on cross-validated ROC-AUC, reaching 0.881 on a completely held-out test set — well above the majority-class baseline of 54%. We paired that with dual explainability, both global and per-patient, and deployed it behind a live, interactive dashboard. The honest limitations: 302 patients is a modest dataset, so a larger cohort would strengthen our confidence; and our SHAP explanations currently use the Random Forest component rather than the full ensemble for speed. To be clear — this is an educational demonstration, not a medical device. Thank you, and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C4A"/>
        </a:solidFill>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0B2A34"/>
          </a:solidFill>
          <a:ln/>
        </p:spPr>
      </p:sp>
      <p:sp>
        <p:nvSpPr>
          <p:cNvPr id="3" name="Shape 1"/>
          <p:cNvSpPr/>
          <p:nvPr/>
        </p:nvSpPr>
        <p:spPr>
          <a:xfrm>
            <a:off x="-1645920" y="4754880"/>
            <a:ext cx="3840480" cy="3840480"/>
          </a:xfrm>
          <a:prstGeom prst="ellipse">
            <a:avLst/>
          </a:prstGeom>
          <a:solidFill>
            <a:srgbClr val="0B2A34"/>
          </a:solidFill>
          <a:ln/>
        </p:spPr>
      </p:sp>
      <p:sp>
        <p:nvSpPr>
          <p:cNvPr id="4" name="Shape 2"/>
          <p:cNvSpPr/>
          <p:nvPr/>
        </p:nvSpPr>
        <p:spPr>
          <a:xfrm>
            <a:off x="822960" y="868680"/>
            <a:ext cx="960120" cy="960120"/>
          </a:xfrm>
          <a:prstGeom prst="ellipse">
            <a:avLst/>
          </a:prstGeom>
          <a:solidFill>
            <a:srgbClr val="E4572E"/>
          </a:solidFill>
          <a:ln/>
        </p:spPr>
      </p:sp>
      <p:pic>
        <p:nvPicPr>
          <p:cNvPr id="5" name="Image 0" descr="icon_heartbeat.png">    </p:cNvPr>
          <p:cNvPicPr>
            <a:picLocks noChangeAspect="1"/>
          </p:cNvPicPr>
          <p:nvPr/>
        </p:nvPicPr>
        <p:blipFill>
          <a:blip r:embed="rId1"/>
          <a:stretch>
            <a:fillRect/>
          </a:stretch>
        </p:blipFill>
        <p:spPr>
          <a:xfrm>
            <a:off x="1053389" y="1099109"/>
            <a:ext cx="499262" cy="499262"/>
          </a:xfrm>
          <a:prstGeom prst="rect">
            <a:avLst/>
          </a:prstGeom>
        </p:spPr>
      </p:pic>
      <p:sp>
        <p:nvSpPr>
          <p:cNvPr id="6" name="Text 3"/>
          <p:cNvSpPr txBox="1"/>
          <p:nvPr/>
        </p:nvSpPr>
        <p:spPr>
          <a:xfrm>
            <a:off x="777240" y="1965960"/>
            <a:ext cx="10515600" cy="96012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CardioGuard</a:t>
            </a:r>
            <a:endParaRPr lang="en-US" sz="4600" dirty="0"/>
          </a:p>
        </p:txBody>
      </p:sp>
      <p:sp>
        <p:nvSpPr>
          <p:cNvPr id="7" name="Text 4"/>
          <p:cNvSpPr txBox="1"/>
          <p:nvPr/>
        </p:nvSpPr>
        <p:spPr>
          <a:xfrm>
            <a:off x="822960" y="2880360"/>
            <a:ext cx="9875520" cy="640080"/>
          </a:xfrm>
          <a:prstGeom prst="rect">
            <a:avLst/>
          </a:prstGeom>
          <a:noFill/>
          <a:ln/>
        </p:spPr>
        <p:txBody>
          <a:bodyPr wrap="square" rtlCol="0" anchor="ctr"/>
          <a:lstStyle/>
          <a:p>
            <a:pPr indent="0" marL="0">
              <a:buNone/>
            </a:pPr>
            <a:r>
              <a:rPr lang="en-US" sz="1900" dirty="0">
                <a:solidFill>
                  <a:srgbClr val="D7EAE6"/>
                </a:solidFill>
                <a:latin typeface="Calibri" pitchFamily="34" charset="0"/>
                <a:ea typeface="Calibri" pitchFamily="34" charset="-122"/>
                <a:cs typeface="Calibri" pitchFamily="34" charset="-120"/>
              </a:rPr>
              <a:t>Explainable Heart Disease Risk Classification with a Tuned Stacking Ensemble</a:t>
            </a:r>
            <a:endParaRPr lang="en-US" sz="1900" dirty="0"/>
          </a:p>
        </p:txBody>
      </p:sp>
      <p:sp>
        <p:nvSpPr>
          <p:cNvPr id="8" name="Shape 5"/>
          <p:cNvSpPr/>
          <p:nvPr/>
        </p:nvSpPr>
        <p:spPr>
          <a:xfrm>
            <a:off x="822960" y="3703320"/>
            <a:ext cx="4206240" cy="0"/>
          </a:xfrm>
          <a:prstGeom prst="line">
            <a:avLst/>
          </a:prstGeom>
          <a:noFill/>
          <a:ln w="25400">
            <a:solidFill>
              <a:srgbClr val="E4572E"/>
            </a:solidFill>
            <a:prstDash val="solid"/>
          </a:ln>
        </p:spPr>
      </p:sp>
      <p:sp>
        <p:nvSpPr>
          <p:cNvPr id="9" name="Text 6"/>
          <p:cNvSpPr txBox="1"/>
          <p:nvPr/>
        </p:nvSpPr>
        <p:spPr>
          <a:xfrm>
            <a:off x="822960" y="3931920"/>
            <a:ext cx="9601200" cy="365760"/>
          </a:xfrm>
          <a:prstGeom prst="rect">
            <a:avLst/>
          </a:prstGeom>
          <a:noFill/>
          <a:ln/>
        </p:spPr>
        <p:txBody>
          <a:bodyPr wrap="square" rtlCol="0" anchor="ctr"/>
          <a:lstStyle/>
          <a:p>
            <a:pPr indent="0" marL="0">
              <a:buNone/>
            </a:pPr>
            <a:r>
              <a:rPr lang="en-US" sz="1350" i="1" dirty="0">
                <a:solidFill>
                  <a:srgbClr val="D7EAE6"/>
                </a:solidFill>
                <a:latin typeface="Calibri" pitchFamily="34" charset="0"/>
                <a:ea typeface="Calibri" pitchFamily="34" charset="-122"/>
                <a:cs typeface="Calibri" pitchFamily="34" charset="-120"/>
              </a:rPr>
              <a:t>SMLC (UX25CS635A) — Supervised Machine Learning Classification Mini Project</a:t>
            </a:r>
            <a:endParaRPr lang="en-US" sz="1350" dirty="0"/>
          </a:p>
        </p:txBody>
      </p:sp>
      <p:sp>
        <p:nvSpPr>
          <p:cNvPr id="10" name="Text 7"/>
          <p:cNvSpPr txBox="1"/>
          <p:nvPr/>
        </p:nvSpPr>
        <p:spPr>
          <a:xfrm>
            <a:off x="822960" y="4846320"/>
            <a:ext cx="7315200" cy="36576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Rahul Patidar</a:t>
            </a:r>
            <a:endParaRPr lang="en-US" sz="1800" dirty="0"/>
          </a:p>
        </p:txBody>
      </p:sp>
      <p:sp>
        <p:nvSpPr>
          <p:cNvPr id="11" name="Text 8"/>
          <p:cNvSpPr txBox="1"/>
          <p:nvPr/>
        </p:nvSpPr>
        <p:spPr>
          <a:xfrm>
            <a:off x="822960" y="5230368"/>
            <a:ext cx="10058400" cy="365760"/>
          </a:xfrm>
          <a:prstGeom prst="rect">
            <a:avLst/>
          </a:prstGeom>
          <a:noFill/>
          <a:ln/>
        </p:spPr>
        <p:txBody>
          <a:bodyPr wrap="square" rtlCol="0" anchor="ctr"/>
          <a:lstStyle/>
          <a:p>
            <a:pPr indent="0" marL="0">
              <a:buNone/>
            </a:pPr>
            <a:r>
              <a:rPr lang="en-US" sz="1300" dirty="0">
                <a:solidFill>
                  <a:srgbClr val="D7EAE6"/>
                </a:solidFill>
                <a:latin typeface="Calibri" pitchFamily="34" charset="0"/>
                <a:ea typeface="Calibri" pitchFamily="34" charset="-122"/>
                <a:cs typeface="Calibri" pitchFamily="34" charset="-120"/>
              </a:rPr>
              <a:t>SRN: PES1PGE25DS049  ·  1st Semester, M.Tech (Data Science &amp; Artificial Intelligence)  ·  PES University</a:t>
            </a:r>
            <a:endParaRPr lang="en-US" sz="1300" dirty="0"/>
          </a:p>
        </p:txBody>
      </p:sp>
      <p:sp>
        <p:nvSpPr>
          <p:cNvPr id="12" name="Shape 9"/>
          <p:cNvSpPr/>
          <p:nvPr/>
        </p:nvSpPr>
        <p:spPr>
          <a:xfrm>
            <a:off x="822960" y="5806440"/>
            <a:ext cx="4206240" cy="0"/>
          </a:xfrm>
          <a:prstGeom prst="line">
            <a:avLst/>
          </a:prstGeom>
          <a:noFill/>
          <a:ln w="12700">
            <a:solidFill>
              <a:srgbClr val="2A5A66"/>
            </a:solidFill>
            <a:prstDash val="solid"/>
          </a:ln>
        </p:spPr>
      </p:sp>
      <p:sp>
        <p:nvSpPr>
          <p:cNvPr id="13" name="Text 10"/>
          <p:cNvSpPr txBox="1"/>
          <p:nvPr/>
        </p:nvSpPr>
        <p:spPr>
          <a:xfrm>
            <a:off x="822960" y="5943600"/>
            <a:ext cx="9875520" cy="457200"/>
          </a:xfrm>
          <a:prstGeom prst="rect">
            <a:avLst/>
          </a:prstGeom>
          <a:noFill/>
          <a:ln/>
        </p:spPr>
        <p:txBody>
          <a:bodyPr wrap="square" rtlCol="0" anchor="ctr"/>
          <a:lstStyle/>
          <a:p>
            <a:pPr indent="0" marL="0">
              <a:buNone/>
            </a:pPr>
            <a:r>
              <a:rPr lang="en-US" sz="1250" i="1" dirty="0">
                <a:solidFill>
                  <a:srgbClr val="D7EAE6"/>
                </a:solidFill>
                <a:latin typeface="Calibri" pitchFamily="34" charset="0"/>
                <a:ea typeface="Calibri" pitchFamily="34" charset="-122"/>
                <a:cs typeface="Calibri" pitchFamily="34" charset="-120"/>
              </a:rPr>
              <a:t>Under the guidance of: </a:t>
            </a:r>
            <a:pPr indent="0" marL="0">
              <a:buNone/>
            </a:pPr>
            <a:r>
              <a:rPr lang="en-US" sz="1250" b="1" i="1" dirty="0">
                <a:solidFill>
                  <a:srgbClr val="FFFFFF"/>
                </a:solidFill>
                <a:latin typeface="Calibri" pitchFamily="34" charset="0"/>
                <a:ea typeface="Calibri" pitchFamily="34" charset="-122"/>
                <a:cs typeface="Calibri" pitchFamily="34" charset="-120"/>
              </a:rPr>
              <a:t>Dr. Shylaja S. Sharath, HOD, Dept. of CSE, PES University</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058400" cy="640080"/>
          </a:xfrm>
          <a:prstGeom prst="rect">
            <a:avLst/>
          </a:prstGeom>
          <a:noFill/>
          <a:ln/>
        </p:spPr>
        <p:txBody>
          <a:bodyPr wrap="square" rtlCol="0" anchor="ctr"/>
          <a:lstStyle/>
          <a:p>
            <a:pPr indent="0" marL="0">
              <a:buNone/>
            </a:pPr>
            <a:r>
              <a:rPr lang="en-US" sz="3000" b="1" dirty="0">
                <a:solidFill>
                  <a:srgbClr val="123C4A"/>
                </a:solidFill>
                <a:latin typeface="Cambria" pitchFamily="34" charset="0"/>
                <a:ea typeface="Cambria" pitchFamily="34" charset="-122"/>
                <a:cs typeface="Cambria" pitchFamily="34" charset="-120"/>
              </a:rPr>
              <a:t>Problem &amp; Motivation</a:t>
            </a:r>
            <a:endParaRPr lang="en-US" sz="3000" dirty="0"/>
          </a:p>
        </p:txBody>
      </p:sp>
      <p:sp>
        <p:nvSpPr>
          <p:cNvPr id="3" name="Text 1"/>
          <p:cNvSpPr txBox="1"/>
          <p:nvPr/>
        </p:nvSpPr>
        <p:spPr>
          <a:xfrm>
            <a:off x="548640" y="1234440"/>
            <a:ext cx="5943600" cy="1737360"/>
          </a:xfrm>
          <a:prstGeom prst="rect">
            <a:avLst/>
          </a:prstGeom>
          <a:noFill/>
          <a:ln/>
        </p:spPr>
        <p:txBody>
          <a:bodyPr wrap="square" rtlCol="0" anchor="ctr"/>
          <a:lstStyle/>
          <a:p>
            <a:pPr indent="0" marL="0">
              <a:lnSpc>
                <a:spcPct val="125000"/>
              </a:lnSpc>
              <a:buNone/>
            </a:pPr>
            <a:r>
              <a:rPr lang="en-US" sz="1550" dirty="0">
                <a:solidFill>
                  <a:srgbClr val="132B31"/>
                </a:solidFill>
                <a:latin typeface="Calibri" pitchFamily="34" charset="0"/>
                <a:ea typeface="Calibri" pitchFamily="34" charset="-122"/>
                <a:cs typeface="Calibri" pitchFamily="34" charset="-120"/>
              </a:rPr>
              <a:t>Heart disease is one of the leading causes of death worldwide. Clinicians assess risk by combining many measurements — age, cholesterol, blood pressure, ECG results — a process that is manual, inconsistent, and hard to scale for early screening.</a:t>
            </a:r>
            <a:endParaRPr lang="en-US" sz="1550" dirty="0"/>
          </a:p>
        </p:txBody>
      </p:sp>
      <p:sp>
        <p:nvSpPr>
          <p:cNvPr id="4" name="Shape 2"/>
          <p:cNvSpPr/>
          <p:nvPr/>
        </p:nvSpPr>
        <p:spPr>
          <a:xfrm>
            <a:off x="548640" y="3154680"/>
            <a:ext cx="548640" cy="548640"/>
          </a:xfrm>
          <a:prstGeom prst="ellipse">
            <a:avLst/>
          </a:prstGeom>
          <a:solidFill>
            <a:srgbClr val="123C4A"/>
          </a:solidFill>
          <a:ln/>
        </p:spPr>
      </p:sp>
      <p:pic>
        <p:nvPicPr>
          <p:cNvPr id="5" name="Image 0" descr="icon_stethoscope.png">    </p:cNvPr>
          <p:cNvPicPr>
            <a:picLocks noChangeAspect="1"/>
          </p:cNvPicPr>
          <p:nvPr/>
        </p:nvPicPr>
        <p:blipFill>
          <a:blip r:embed="rId1"/>
          <a:stretch>
            <a:fillRect/>
          </a:stretch>
        </p:blipFill>
        <p:spPr>
          <a:xfrm>
            <a:off x="680314" y="3286354"/>
            <a:ext cx="285293" cy="285293"/>
          </a:xfrm>
          <a:prstGeom prst="rect">
            <a:avLst/>
          </a:prstGeom>
        </p:spPr>
      </p:pic>
      <p:sp>
        <p:nvSpPr>
          <p:cNvPr id="6" name="Text 3"/>
          <p:cNvSpPr txBox="1"/>
          <p:nvPr/>
        </p:nvSpPr>
        <p:spPr>
          <a:xfrm>
            <a:off x="1280160" y="3108960"/>
            <a:ext cx="5212080" cy="320040"/>
          </a:xfrm>
          <a:prstGeom prst="rect">
            <a:avLst/>
          </a:prstGeom>
          <a:noFill/>
          <a:ln/>
        </p:spPr>
        <p:txBody>
          <a:bodyPr wrap="square" rtlCol="0" anchor="ctr"/>
          <a:lstStyle/>
          <a:p>
            <a:pPr indent="0" marL="0">
              <a:buNone/>
            </a:pPr>
            <a:r>
              <a:rPr lang="en-US" sz="1450" b="1" dirty="0">
                <a:solidFill>
                  <a:srgbClr val="123C4A"/>
                </a:solidFill>
                <a:latin typeface="Calibri" pitchFamily="34" charset="0"/>
                <a:ea typeface="Calibri" pitchFamily="34" charset="-122"/>
                <a:cs typeface="Calibri" pitchFamily="34" charset="-120"/>
              </a:rPr>
              <a:t>Predict</a:t>
            </a:r>
            <a:endParaRPr lang="en-US" sz="1450" dirty="0"/>
          </a:p>
        </p:txBody>
      </p:sp>
      <p:sp>
        <p:nvSpPr>
          <p:cNvPr id="7" name="Text 4"/>
          <p:cNvSpPr txBox="1"/>
          <p:nvPr/>
        </p:nvSpPr>
        <p:spPr>
          <a:xfrm>
            <a:off x="1280160" y="3410712"/>
            <a:ext cx="5394960" cy="640080"/>
          </a:xfrm>
          <a:prstGeom prst="rect">
            <a:avLst/>
          </a:prstGeom>
          <a:noFill/>
          <a:ln/>
        </p:spPr>
        <p:txBody>
          <a:bodyPr wrap="square" rtlCol="0" anchor="ctr"/>
          <a:lstStyle/>
          <a:p>
            <a:pPr indent="0" marL="0">
              <a:lnSpc>
                <a:spcPct val="110000"/>
              </a:lnSpc>
              <a:buNone/>
            </a:pPr>
            <a:r>
              <a:rPr lang="en-US" sz="1150" dirty="0">
                <a:solidFill>
                  <a:srgbClr val="5B7A78"/>
                </a:solidFill>
                <a:latin typeface="Calibri" pitchFamily="34" charset="0"/>
                <a:ea typeface="Calibri" pitchFamily="34" charset="-122"/>
                <a:cs typeface="Calibri" pitchFamily="34" charset="-120"/>
              </a:rPr>
              <a:t>Binary classification: heart disease present (1) vs. absent (0) from 13 standard clinical features.</a:t>
            </a:r>
            <a:endParaRPr lang="en-US" sz="1150" dirty="0"/>
          </a:p>
        </p:txBody>
      </p:sp>
      <p:sp>
        <p:nvSpPr>
          <p:cNvPr id="8" name="Shape 5"/>
          <p:cNvSpPr/>
          <p:nvPr/>
        </p:nvSpPr>
        <p:spPr>
          <a:xfrm>
            <a:off x="548640" y="4114800"/>
            <a:ext cx="548640" cy="548640"/>
          </a:xfrm>
          <a:prstGeom prst="ellipse">
            <a:avLst/>
          </a:prstGeom>
          <a:solidFill>
            <a:srgbClr val="123C4A"/>
          </a:solidFill>
          <a:ln/>
        </p:spPr>
      </p:sp>
      <p:pic>
        <p:nvPicPr>
          <p:cNvPr id="9" name="Image 1" descr="icon_clipboardcheck.png">    </p:cNvPr>
          <p:cNvPicPr>
            <a:picLocks noChangeAspect="1"/>
          </p:cNvPicPr>
          <p:nvPr/>
        </p:nvPicPr>
        <p:blipFill>
          <a:blip r:embed="rId2"/>
          <a:stretch>
            <a:fillRect/>
          </a:stretch>
        </p:blipFill>
        <p:spPr>
          <a:xfrm>
            <a:off x="680314" y="4246474"/>
            <a:ext cx="285293" cy="285293"/>
          </a:xfrm>
          <a:prstGeom prst="rect">
            <a:avLst/>
          </a:prstGeom>
        </p:spPr>
      </p:pic>
      <p:sp>
        <p:nvSpPr>
          <p:cNvPr id="10" name="Text 6"/>
          <p:cNvSpPr txBox="1"/>
          <p:nvPr/>
        </p:nvSpPr>
        <p:spPr>
          <a:xfrm>
            <a:off x="1280160" y="4069080"/>
            <a:ext cx="5212080" cy="320040"/>
          </a:xfrm>
          <a:prstGeom prst="rect">
            <a:avLst/>
          </a:prstGeom>
          <a:noFill/>
          <a:ln/>
        </p:spPr>
        <p:txBody>
          <a:bodyPr wrap="square" rtlCol="0" anchor="ctr"/>
          <a:lstStyle/>
          <a:p>
            <a:pPr indent="0" marL="0">
              <a:buNone/>
            </a:pPr>
            <a:r>
              <a:rPr lang="en-US" sz="1450" b="1" dirty="0">
                <a:solidFill>
                  <a:srgbClr val="123C4A"/>
                </a:solidFill>
                <a:latin typeface="Calibri" pitchFamily="34" charset="0"/>
                <a:ea typeface="Calibri" pitchFamily="34" charset="-122"/>
                <a:cs typeface="Calibri" pitchFamily="34" charset="-120"/>
              </a:rPr>
              <a:t>Validate rigorously</a:t>
            </a:r>
            <a:endParaRPr lang="en-US" sz="1450" dirty="0"/>
          </a:p>
        </p:txBody>
      </p:sp>
      <p:sp>
        <p:nvSpPr>
          <p:cNvPr id="11" name="Text 7"/>
          <p:cNvSpPr txBox="1"/>
          <p:nvPr/>
        </p:nvSpPr>
        <p:spPr>
          <a:xfrm>
            <a:off x="1280160" y="4370832"/>
            <a:ext cx="5394960" cy="640080"/>
          </a:xfrm>
          <a:prstGeom prst="rect">
            <a:avLst/>
          </a:prstGeom>
          <a:noFill/>
          <a:ln/>
        </p:spPr>
        <p:txBody>
          <a:bodyPr wrap="square" rtlCol="0" anchor="ctr"/>
          <a:lstStyle/>
          <a:p>
            <a:pPr indent="0" marL="0">
              <a:lnSpc>
                <a:spcPct val="110000"/>
              </a:lnSpc>
              <a:buNone/>
            </a:pPr>
            <a:r>
              <a:rPr lang="en-US" sz="1150" dirty="0">
                <a:solidFill>
                  <a:srgbClr val="5B7A78"/>
                </a:solidFill>
                <a:latin typeface="Calibri" pitchFamily="34" charset="0"/>
                <a:ea typeface="Calibri" pitchFamily="34" charset="-122"/>
                <a:cs typeface="Calibri" pitchFamily="34" charset="-120"/>
              </a:rPr>
              <a:t>Leak-proof pipeline, stratified splits, cross-validated hyperparameter tuning, held-out test set.</a:t>
            </a:r>
            <a:endParaRPr lang="en-US" sz="1150" dirty="0"/>
          </a:p>
        </p:txBody>
      </p:sp>
      <p:sp>
        <p:nvSpPr>
          <p:cNvPr id="12" name="Shape 8"/>
          <p:cNvSpPr/>
          <p:nvPr/>
        </p:nvSpPr>
        <p:spPr>
          <a:xfrm>
            <a:off x="548640" y="5074920"/>
            <a:ext cx="548640" cy="548640"/>
          </a:xfrm>
          <a:prstGeom prst="ellipse">
            <a:avLst/>
          </a:prstGeom>
          <a:solidFill>
            <a:srgbClr val="123C4A"/>
          </a:solidFill>
          <a:ln/>
        </p:spPr>
      </p:sp>
      <p:pic>
        <p:nvPicPr>
          <p:cNvPr id="13" name="Image 2" descr="icon_lightbulb.png">    </p:cNvPr>
          <p:cNvPicPr>
            <a:picLocks noChangeAspect="1"/>
          </p:cNvPicPr>
          <p:nvPr/>
        </p:nvPicPr>
        <p:blipFill>
          <a:blip r:embed="rId3"/>
          <a:stretch>
            <a:fillRect/>
          </a:stretch>
        </p:blipFill>
        <p:spPr>
          <a:xfrm>
            <a:off x="680314" y="5206594"/>
            <a:ext cx="285293" cy="285293"/>
          </a:xfrm>
          <a:prstGeom prst="rect">
            <a:avLst/>
          </a:prstGeom>
        </p:spPr>
      </p:pic>
      <p:sp>
        <p:nvSpPr>
          <p:cNvPr id="14" name="Text 9"/>
          <p:cNvSpPr txBox="1"/>
          <p:nvPr/>
        </p:nvSpPr>
        <p:spPr>
          <a:xfrm>
            <a:off x="1280160" y="5029200"/>
            <a:ext cx="5212080" cy="320040"/>
          </a:xfrm>
          <a:prstGeom prst="rect">
            <a:avLst/>
          </a:prstGeom>
          <a:noFill/>
          <a:ln/>
        </p:spPr>
        <p:txBody>
          <a:bodyPr wrap="square" rtlCol="0" anchor="ctr"/>
          <a:lstStyle/>
          <a:p>
            <a:pPr indent="0" marL="0">
              <a:buNone/>
            </a:pPr>
            <a:r>
              <a:rPr lang="en-US" sz="1450" b="1" dirty="0">
                <a:solidFill>
                  <a:srgbClr val="123C4A"/>
                </a:solidFill>
                <a:latin typeface="Calibri" pitchFamily="34" charset="0"/>
                <a:ea typeface="Calibri" pitchFamily="34" charset="-122"/>
                <a:cs typeface="Calibri" pitchFamily="34" charset="-120"/>
              </a:rPr>
              <a:t>Explain</a:t>
            </a:r>
            <a:endParaRPr lang="en-US" sz="1450" dirty="0"/>
          </a:p>
        </p:txBody>
      </p:sp>
      <p:sp>
        <p:nvSpPr>
          <p:cNvPr id="15" name="Text 10"/>
          <p:cNvSpPr txBox="1"/>
          <p:nvPr/>
        </p:nvSpPr>
        <p:spPr>
          <a:xfrm>
            <a:off x="1280160" y="5330952"/>
            <a:ext cx="5394960" cy="640080"/>
          </a:xfrm>
          <a:prstGeom prst="rect">
            <a:avLst/>
          </a:prstGeom>
          <a:noFill/>
          <a:ln/>
        </p:spPr>
        <p:txBody>
          <a:bodyPr wrap="square" rtlCol="0" anchor="ctr"/>
          <a:lstStyle/>
          <a:p>
            <a:pPr indent="0" marL="0">
              <a:lnSpc>
                <a:spcPct val="110000"/>
              </a:lnSpc>
              <a:buNone/>
            </a:pPr>
            <a:r>
              <a:rPr lang="en-US" sz="1150" dirty="0">
                <a:solidFill>
                  <a:srgbClr val="5B7A78"/>
                </a:solidFill>
                <a:latin typeface="Calibri" pitchFamily="34" charset="0"/>
                <a:ea typeface="Calibri" pitchFamily="34" charset="-122"/>
                <a:cs typeface="Calibri" pitchFamily="34" charset="-120"/>
              </a:rPr>
              <a:t>Every prediction is accompanied by the clinical factors driving it — not a black box.</a:t>
            </a:r>
            <a:endParaRPr lang="en-US" sz="1150" dirty="0"/>
          </a:p>
        </p:txBody>
      </p:sp>
      <p:sp>
        <p:nvSpPr>
          <p:cNvPr id="16" name="Shape 11"/>
          <p:cNvSpPr/>
          <p:nvPr/>
        </p:nvSpPr>
        <p:spPr>
          <a:xfrm>
            <a:off x="6903720" y="1188720"/>
            <a:ext cx="4754880" cy="5029200"/>
          </a:xfrm>
          <a:prstGeom prst="roundRect">
            <a:avLst>
              <a:gd name="adj" fmla="val 2308"/>
            </a:avLst>
          </a:prstGeom>
          <a:solidFill>
            <a:srgbClr val="EAF3F1"/>
          </a:solidFill>
          <a:ln/>
        </p:spPr>
      </p:sp>
      <p:sp>
        <p:nvSpPr>
          <p:cNvPr id="17" name="Text 12"/>
          <p:cNvSpPr txBox="1"/>
          <p:nvPr/>
        </p:nvSpPr>
        <p:spPr>
          <a:xfrm>
            <a:off x="7269480" y="1417320"/>
            <a:ext cx="4023360" cy="365760"/>
          </a:xfrm>
          <a:prstGeom prst="rect">
            <a:avLst/>
          </a:prstGeom>
          <a:noFill/>
          <a:ln/>
        </p:spPr>
        <p:txBody>
          <a:bodyPr wrap="square" rtlCol="0" anchor="ctr"/>
          <a:lstStyle/>
          <a:p>
            <a:pPr indent="0" marL="0">
              <a:buNone/>
            </a:pPr>
            <a:r>
              <a:rPr lang="en-US" sz="1400" b="1" dirty="0">
                <a:solidFill>
                  <a:srgbClr val="123C4A"/>
                </a:solidFill>
                <a:latin typeface="Calibri" pitchFamily="34" charset="0"/>
                <a:ea typeface="Calibri" pitchFamily="34" charset="-122"/>
                <a:cs typeface="Calibri" pitchFamily="34" charset="-120"/>
              </a:rPr>
              <a:t>Why it matters</a:t>
            </a:r>
            <a:endParaRPr lang="en-US" sz="1400" dirty="0"/>
          </a:p>
        </p:txBody>
      </p:sp>
      <p:sp>
        <p:nvSpPr>
          <p:cNvPr id="18" name="Text 13"/>
          <p:cNvSpPr txBox="1"/>
          <p:nvPr/>
        </p:nvSpPr>
        <p:spPr>
          <a:xfrm>
            <a:off x="7269480" y="1965960"/>
            <a:ext cx="1828800" cy="914400"/>
          </a:xfrm>
          <a:prstGeom prst="rect">
            <a:avLst/>
          </a:prstGeom>
          <a:noFill/>
          <a:ln/>
        </p:spPr>
        <p:txBody>
          <a:bodyPr wrap="square" rtlCol="0" anchor="ctr"/>
          <a:lstStyle/>
          <a:p>
            <a:pPr indent="0" marL="0">
              <a:buNone/>
            </a:pPr>
            <a:r>
              <a:rPr lang="en-US" sz="4000" b="1" dirty="0">
                <a:solidFill>
                  <a:srgbClr val="E4572E"/>
                </a:solidFill>
                <a:latin typeface="Cambria" pitchFamily="34" charset="0"/>
                <a:ea typeface="Cambria" pitchFamily="34" charset="-122"/>
                <a:cs typeface="Cambria" pitchFamily="34" charset="-120"/>
              </a:rPr>
              <a:t>#1</a:t>
            </a:r>
            <a:endParaRPr lang="en-US" sz="4000" dirty="0"/>
          </a:p>
        </p:txBody>
      </p:sp>
      <p:sp>
        <p:nvSpPr>
          <p:cNvPr id="19" name="Text 14"/>
          <p:cNvSpPr txBox="1"/>
          <p:nvPr/>
        </p:nvSpPr>
        <p:spPr>
          <a:xfrm>
            <a:off x="7269480" y="2862072"/>
            <a:ext cx="4023360" cy="502920"/>
          </a:xfrm>
          <a:prstGeom prst="rect">
            <a:avLst/>
          </a:prstGeom>
          <a:noFill/>
          <a:ln/>
        </p:spPr>
        <p:txBody>
          <a:bodyPr wrap="square" rtlCol="0" anchor="ctr"/>
          <a:lstStyle/>
          <a:p>
            <a:pPr indent="0" marL="0">
              <a:lnSpc>
                <a:spcPct val="110000"/>
              </a:lnSpc>
              <a:buNone/>
            </a:pPr>
            <a:r>
              <a:rPr lang="en-US" sz="1150" dirty="0">
                <a:solidFill>
                  <a:srgbClr val="132B31"/>
                </a:solidFill>
                <a:latin typeface="Calibri" pitchFamily="34" charset="0"/>
                <a:ea typeface="Calibri" pitchFamily="34" charset="-122"/>
                <a:cs typeface="Calibri" pitchFamily="34" charset="-120"/>
              </a:rPr>
              <a:t>cause of death globally is cardiovascular disease (WHO)</a:t>
            </a:r>
            <a:endParaRPr lang="en-US" sz="1150" dirty="0"/>
          </a:p>
        </p:txBody>
      </p:sp>
      <p:sp>
        <p:nvSpPr>
          <p:cNvPr id="20" name="Text 15"/>
          <p:cNvSpPr txBox="1"/>
          <p:nvPr/>
        </p:nvSpPr>
        <p:spPr>
          <a:xfrm>
            <a:off x="7269480" y="3429000"/>
            <a:ext cx="1828800" cy="914400"/>
          </a:xfrm>
          <a:prstGeom prst="rect">
            <a:avLst/>
          </a:prstGeom>
          <a:noFill/>
          <a:ln/>
        </p:spPr>
        <p:txBody>
          <a:bodyPr wrap="square" rtlCol="0" anchor="ctr"/>
          <a:lstStyle/>
          <a:p>
            <a:pPr indent="0" marL="0">
              <a:buNone/>
            </a:pPr>
            <a:r>
              <a:rPr lang="en-US" sz="4000" b="1" dirty="0">
                <a:solidFill>
                  <a:srgbClr val="E4572E"/>
                </a:solidFill>
                <a:latin typeface="Cambria" pitchFamily="34" charset="0"/>
                <a:ea typeface="Cambria" pitchFamily="34" charset="-122"/>
                <a:cs typeface="Cambria" pitchFamily="34" charset="-120"/>
              </a:rPr>
              <a:t>13</a:t>
            </a:r>
            <a:endParaRPr lang="en-US" sz="4000" dirty="0"/>
          </a:p>
        </p:txBody>
      </p:sp>
      <p:sp>
        <p:nvSpPr>
          <p:cNvPr id="21" name="Text 16"/>
          <p:cNvSpPr txBox="1"/>
          <p:nvPr/>
        </p:nvSpPr>
        <p:spPr>
          <a:xfrm>
            <a:off x="7269480" y="4325112"/>
            <a:ext cx="4023360" cy="502920"/>
          </a:xfrm>
          <a:prstGeom prst="rect">
            <a:avLst/>
          </a:prstGeom>
          <a:noFill/>
          <a:ln/>
        </p:spPr>
        <p:txBody>
          <a:bodyPr wrap="square" rtlCol="0" anchor="ctr"/>
          <a:lstStyle/>
          <a:p>
            <a:pPr indent="0" marL="0">
              <a:lnSpc>
                <a:spcPct val="110000"/>
              </a:lnSpc>
              <a:buNone/>
            </a:pPr>
            <a:r>
              <a:rPr lang="en-US" sz="1150" dirty="0">
                <a:solidFill>
                  <a:srgbClr val="132B31"/>
                </a:solidFill>
                <a:latin typeface="Calibri" pitchFamily="34" charset="0"/>
                <a:ea typeface="Calibri" pitchFamily="34" charset="-122"/>
                <a:cs typeface="Calibri" pitchFamily="34" charset="-120"/>
              </a:rPr>
              <a:t>clinical features used per patient in this study</a:t>
            </a:r>
            <a:endParaRPr lang="en-US" sz="1150" dirty="0"/>
          </a:p>
        </p:txBody>
      </p:sp>
      <p:sp>
        <p:nvSpPr>
          <p:cNvPr id="22" name="Text 17"/>
          <p:cNvSpPr txBox="1"/>
          <p:nvPr/>
        </p:nvSpPr>
        <p:spPr>
          <a:xfrm>
            <a:off x="7269480" y="4892040"/>
            <a:ext cx="1828800" cy="914400"/>
          </a:xfrm>
          <a:prstGeom prst="rect">
            <a:avLst/>
          </a:prstGeom>
          <a:noFill/>
          <a:ln/>
        </p:spPr>
        <p:txBody>
          <a:bodyPr wrap="square" rtlCol="0" anchor="ctr"/>
          <a:lstStyle/>
          <a:p>
            <a:pPr indent="0" marL="0">
              <a:buNone/>
            </a:pPr>
            <a:r>
              <a:rPr lang="en-US" sz="4000" b="1" dirty="0">
                <a:solidFill>
                  <a:srgbClr val="E4572E"/>
                </a:solidFill>
                <a:latin typeface="Cambria" pitchFamily="34" charset="0"/>
                <a:ea typeface="Cambria" pitchFamily="34" charset="-122"/>
                <a:cs typeface="Cambria" pitchFamily="34" charset="-120"/>
              </a:rPr>
              <a:t>302</a:t>
            </a:r>
            <a:endParaRPr lang="en-US" sz="4000" dirty="0"/>
          </a:p>
        </p:txBody>
      </p:sp>
      <p:sp>
        <p:nvSpPr>
          <p:cNvPr id="23" name="Text 18"/>
          <p:cNvSpPr txBox="1"/>
          <p:nvPr/>
        </p:nvSpPr>
        <p:spPr>
          <a:xfrm>
            <a:off x="7269480" y="5788152"/>
            <a:ext cx="4023360" cy="502920"/>
          </a:xfrm>
          <a:prstGeom prst="rect">
            <a:avLst/>
          </a:prstGeom>
          <a:noFill/>
          <a:ln/>
        </p:spPr>
        <p:txBody>
          <a:bodyPr wrap="square" rtlCol="0" anchor="ctr"/>
          <a:lstStyle/>
          <a:p>
            <a:pPr indent="0" marL="0">
              <a:lnSpc>
                <a:spcPct val="110000"/>
              </a:lnSpc>
              <a:buNone/>
            </a:pPr>
            <a:r>
              <a:rPr lang="en-US" sz="1150" dirty="0">
                <a:solidFill>
                  <a:srgbClr val="132B31"/>
                </a:solidFill>
                <a:latin typeface="Calibri" pitchFamily="34" charset="0"/>
                <a:ea typeface="Calibri" pitchFamily="34" charset="-122"/>
                <a:cs typeface="Calibri" pitchFamily="34" charset="-120"/>
              </a:rPr>
              <a:t>unique, de-duplicated patient records (UCI Cleveland)</a:t>
            </a:r>
            <a:endParaRPr lang="en-US" sz="1150" dirty="0"/>
          </a:p>
        </p:txBody>
      </p:sp>
      <p:sp>
        <p:nvSpPr>
          <p:cNvPr id="24" name="Text 19"/>
          <p:cNvSpPr/>
          <p:nvPr/>
        </p:nvSpPr>
        <p:spPr>
          <a:xfrm>
            <a:off x="457200" y="6492240"/>
            <a:ext cx="5486400" cy="274320"/>
          </a:xfrm>
          <a:prstGeom prst="rect">
            <a:avLst/>
          </a:prstGeom>
          <a:noFill/>
          <a:ln/>
        </p:spPr>
        <p:txBody>
          <a:bodyPr wrap="square" rtlCol="0" anchor="ctr"/>
          <a:lstStyle/>
          <a:p>
            <a:pPr indent="0" marL="0">
              <a:buNone/>
            </a:pPr>
            <a:r>
              <a:rPr lang="en-US" sz="900" dirty="0">
                <a:solidFill>
                  <a:srgbClr val="5B7A78"/>
                </a:solidFill>
                <a:latin typeface="Calibri" pitchFamily="34" charset="0"/>
                <a:ea typeface="Calibri" pitchFamily="34" charset="-122"/>
                <a:cs typeface="Calibri" pitchFamily="34" charset="-120"/>
              </a:rPr>
              <a:t>CardioGuard — SMLC Mini Project</a:t>
            </a:r>
            <a:endParaRPr lang="en-US" sz="900" dirty="0"/>
          </a:p>
        </p:txBody>
      </p:sp>
      <p:sp>
        <p:nvSpPr>
          <p:cNvPr id="25" name="Text 20"/>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7A7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058400" cy="640080"/>
          </a:xfrm>
          <a:prstGeom prst="rect">
            <a:avLst/>
          </a:prstGeom>
          <a:noFill/>
          <a:ln/>
        </p:spPr>
        <p:txBody>
          <a:bodyPr wrap="square" rtlCol="0" anchor="ctr"/>
          <a:lstStyle/>
          <a:p>
            <a:pPr indent="0" marL="0">
              <a:buNone/>
            </a:pPr>
            <a:r>
              <a:rPr lang="en-US" sz="3000" b="1" dirty="0">
                <a:solidFill>
                  <a:srgbClr val="123C4A"/>
                </a:solidFill>
                <a:latin typeface="Cambria" pitchFamily="34" charset="0"/>
                <a:ea typeface="Cambria" pitchFamily="34" charset="-122"/>
                <a:cs typeface="Cambria" pitchFamily="34" charset="-120"/>
              </a:rPr>
              <a:t>Dataset Overview</a:t>
            </a:r>
            <a:endParaRPr lang="en-US" sz="3000" dirty="0"/>
          </a:p>
        </p:txBody>
      </p:sp>
      <p:sp>
        <p:nvSpPr>
          <p:cNvPr id="3" name="Text 1"/>
          <p:cNvSpPr txBox="1"/>
          <p:nvPr/>
        </p:nvSpPr>
        <p:spPr>
          <a:xfrm>
            <a:off x="548640" y="1051560"/>
            <a:ext cx="10515600" cy="457200"/>
          </a:xfrm>
          <a:prstGeom prst="rect">
            <a:avLst/>
          </a:prstGeom>
          <a:noFill/>
          <a:ln/>
        </p:spPr>
        <p:txBody>
          <a:bodyPr wrap="square" rtlCol="0" anchor="ctr"/>
          <a:lstStyle/>
          <a:p>
            <a:pPr indent="0" marL="0">
              <a:buNone/>
            </a:pPr>
            <a:r>
              <a:rPr lang="en-US" sz="1400" dirty="0">
                <a:solidFill>
                  <a:srgbClr val="5B7A78"/>
                </a:solidFill>
                <a:latin typeface="Calibri" pitchFamily="34" charset="0"/>
                <a:ea typeface="Calibri" pitchFamily="34" charset="-122"/>
                <a:cs typeface="Calibri" pitchFamily="34" charset="-120"/>
              </a:rPr>
              <a:t>UCI Cleveland Heart Disease dataset — the classic benchmark used across published heart-disease-classification research.</a:t>
            </a:r>
            <a:endParaRPr lang="en-US" sz="1400" dirty="0"/>
          </a:p>
        </p:txBody>
      </p:sp>
      <p:sp>
        <p:nvSpPr>
          <p:cNvPr id="4" name="Shape 2"/>
          <p:cNvSpPr/>
          <p:nvPr/>
        </p:nvSpPr>
        <p:spPr>
          <a:xfrm>
            <a:off x="548640" y="1783080"/>
            <a:ext cx="502920" cy="502920"/>
          </a:xfrm>
          <a:prstGeom prst="ellipse">
            <a:avLst/>
          </a:prstGeom>
          <a:solidFill>
            <a:srgbClr val="123C4A"/>
          </a:solidFill>
          <a:ln/>
        </p:spPr>
      </p:sp>
      <p:pic>
        <p:nvPicPr>
          <p:cNvPr id="5" name="Image 0" descr="icon_database.png">    </p:cNvPr>
          <p:cNvPicPr>
            <a:picLocks noChangeAspect="1"/>
          </p:cNvPicPr>
          <p:nvPr/>
        </p:nvPicPr>
        <p:blipFill>
          <a:blip r:embed="rId1"/>
          <a:stretch>
            <a:fillRect/>
          </a:stretch>
        </p:blipFill>
        <p:spPr>
          <a:xfrm>
            <a:off x="669341" y="1903781"/>
            <a:ext cx="261518" cy="261518"/>
          </a:xfrm>
          <a:prstGeom prst="rect">
            <a:avLst/>
          </a:prstGeom>
        </p:spPr>
      </p:pic>
      <p:sp>
        <p:nvSpPr>
          <p:cNvPr id="6" name="Text 3"/>
          <p:cNvSpPr txBox="1"/>
          <p:nvPr/>
        </p:nvSpPr>
        <p:spPr>
          <a:xfrm>
            <a:off x="1188720" y="1828800"/>
            <a:ext cx="5120640" cy="365760"/>
          </a:xfrm>
          <a:prstGeom prst="rect">
            <a:avLst/>
          </a:prstGeom>
          <a:noFill/>
          <a:ln/>
        </p:spPr>
        <p:txBody>
          <a:bodyPr wrap="square" rtlCol="0" anchor="ctr"/>
          <a:lstStyle/>
          <a:p>
            <a:pPr indent="0" marL="0">
              <a:buNone/>
            </a:pPr>
            <a:r>
              <a:rPr lang="en-US" sz="1400" b="1" dirty="0">
                <a:solidFill>
                  <a:srgbClr val="123C4A"/>
                </a:solidFill>
                <a:latin typeface="Calibri" pitchFamily="34" charset="0"/>
                <a:ea typeface="Calibri" pitchFamily="34" charset="-122"/>
                <a:cs typeface="Calibri" pitchFamily="34" charset="-120"/>
              </a:rPr>
              <a:t>13 clinical features, 3 groups</a:t>
            </a:r>
            <a:endParaRPr lang="en-US" sz="1400" dirty="0"/>
          </a:p>
        </p:txBody>
      </p:sp>
      <p:sp>
        <p:nvSpPr>
          <p:cNvPr id="7" name="Shape 4"/>
          <p:cNvSpPr/>
          <p:nvPr/>
        </p:nvSpPr>
        <p:spPr>
          <a:xfrm>
            <a:off x="548640" y="2423160"/>
            <a:ext cx="5577840" cy="658368"/>
          </a:xfrm>
          <a:prstGeom prst="roundRect">
            <a:avLst>
              <a:gd name="adj" fmla="val 11111"/>
            </a:avLst>
          </a:prstGeom>
          <a:solidFill>
            <a:srgbClr val="EAF3F1"/>
          </a:solidFill>
          <a:ln/>
        </p:spPr>
      </p:sp>
      <p:sp>
        <p:nvSpPr>
          <p:cNvPr id="8" name="Text 5"/>
          <p:cNvSpPr txBox="1"/>
          <p:nvPr/>
        </p:nvSpPr>
        <p:spPr>
          <a:xfrm>
            <a:off x="731520" y="2478024"/>
            <a:ext cx="5212080" cy="274320"/>
          </a:xfrm>
          <a:prstGeom prst="rect">
            <a:avLst/>
          </a:prstGeom>
          <a:noFill/>
          <a:ln/>
        </p:spPr>
        <p:txBody>
          <a:bodyPr wrap="square" rtlCol="0" anchor="ctr"/>
          <a:lstStyle/>
          <a:p>
            <a:pPr indent="0" marL="0">
              <a:buNone/>
            </a:pPr>
            <a:r>
              <a:rPr lang="en-US" sz="1250" b="1" dirty="0">
                <a:solidFill>
                  <a:srgbClr val="123C4A"/>
                </a:solidFill>
                <a:latin typeface="Calibri" pitchFamily="34" charset="0"/>
                <a:ea typeface="Calibri" pitchFamily="34" charset="-122"/>
                <a:cs typeface="Calibri" pitchFamily="34" charset="-120"/>
              </a:rPr>
              <a:t>Continuous (6)</a:t>
            </a:r>
            <a:endParaRPr lang="en-US" sz="1250" dirty="0"/>
          </a:p>
        </p:txBody>
      </p:sp>
      <p:sp>
        <p:nvSpPr>
          <p:cNvPr id="9" name="Text 6"/>
          <p:cNvSpPr txBox="1"/>
          <p:nvPr/>
        </p:nvSpPr>
        <p:spPr>
          <a:xfrm>
            <a:off x="731520" y="2752344"/>
            <a:ext cx="5212080" cy="292608"/>
          </a:xfrm>
          <a:prstGeom prst="rect">
            <a:avLst/>
          </a:prstGeom>
          <a:noFill/>
          <a:ln/>
        </p:spPr>
        <p:txBody>
          <a:bodyPr wrap="square" rtlCol="0" anchor="ctr"/>
          <a:lstStyle/>
          <a:p>
            <a:pPr indent="0" marL="0">
              <a:buNone/>
            </a:pPr>
            <a:r>
              <a:rPr lang="en-US" sz="1050" dirty="0">
                <a:solidFill>
                  <a:srgbClr val="132B31"/>
                </a:solidFill>
                <a:latin typeface="Calibri" pitchFamily="34" charset="0"/>
                <a:ea typeface="Calibri" pitchFamily="34" charset="-122"/>
                <a:cs typeface="Calibri" pitchFamily="34" charset="-120"/>
              </a:rPr>
              <a:t>age, trestbps, chol, thalach, oldpeak, ca  → StandardScaler</a:t>
            </a:r>
            <a:endParaRPr lang="en-US" sz="1050" dirty="0"/>
          </a:p>
        </p:txBody>
      </p:sp>
      <p:sp>
        <p:nvSpPr>
          <p:cNvPr id="10" name="Shape 7"/>
          <p:cNvSpPr/>
          <p:nvPr/>
        </p:nvSpPr>
        <p:spPr>
          <a:xfrm>
            <a:off x="548640" y="3200400"/>
            <a:ext cx="5577840" cy="658368"/>
          </a:xfrm>
          <a:prstGeom prst="roundRect">
            <a:avLst>
              <a:gd name="adj" fmla="val 11111"/>
            </a:avLst>
          </a:prstGeom>
          <a:solidFill>
            <a:srgbClr val="EAF3F1"/>
          </a:solidFill>
          <a:ln/>
        </p:spPr>
      </p:sp>
      <p:sp>
        <p:nvSpPr>
          <p:cNvPr id="11" name="Text 8"/>
          <p:cNvSpPr txBox="1"/>
          <p:nvPr/>
        </p:nvSpPr>
        <p:spPr>
          <a:xfrm>
            <a:off x="731520" y="3255264"/>
            <a:ext cx="5212080" cy="274320"/>
          </a:xfrm>
          <a:prstGeom prst="rect">
            <a:avLst/>
          </a:prstGeom>
          <a:noFill/>
          <a:ln/>
        </p:spPr>
        <p:txBody>
          <a:bodyPr wrap="square" rtlCol="0" anchor="ctr"/>
          <a:lstStyle/>
          <a:p>
            <a:pPr indent="0" marL="0">
              <a:buNone/>
            </a:pPr>
            <a:r>
              <a:rPr lang="en-US" sz="1250" b="1" dirty="0">
                <a:solidFill>
                  <a:srgbClr val="123C4A"/>
                </a:solidFill>
                <a:latin typeface="Calibri" pitchFamily="34" charset="0"/>
                <a:ea typeface="Calibri" pitchFamily="34" charset="-122"/>
                <a:cs typeface="Calibri" pitchFamily="34" charset="-120"/>
              </a:rPr>
              <a:t>Binary (3)</a:t>
            </a:r>
            <a:endParaRPr lang="en-US" sz="1250" dirty="0"/>
          </a:p>
        </p:txBody>
      </p:sp>
      <p:sp>
        <p:nvSpPr>
          <p:cNvPr id="12" name="Text 9"/>
          <p:cNvSpPr txBox="1"/>
          <p:nvPr/>
        </p:nvSpPr>
        <p:spPr>
          <a:xfrm>
            <a:off x="731520" y="3529584"/>
            <a:ext cx="5212080" cy="292608"/>
          </a:xfrm>
          <a:prstGeom prst="rect">
            <a:avLst/>
          </a:prstGeom>
          <a:noFill/>
          <a:ln/>
        </p:spPr>
        <p:txBody>
          <a:bodyPr wrap="square" rtlCol="0" anchor="ctr"/>
          <a:lstStyle/>
          <a:p>
            <a:pPr indent="0" marL="0">
              <a:buNone/>
            </a:pPr>
            <a:r>
              <a:rPr lang="en-US" sz="1050" dirty="0">
                <a:solidFill>
                  <a:srgbClr val="132B31"/>
                </a:solidFill>
                <a:latin typeface="Calibri" pitchFamily="34" charset="0"/>
                <a:ea typeface="Calibri" pitchFamily="34" charset="-122"/>
                <a:cs typeface="Calibri" pitchFamily="34" charset="-120"/>
              </a:rPr>
              <a:t>sex, fbs, exang  → passthrough (already 0/1)</a:t>
            </a:r>
            <a:endParaRPr lang="en-US" sz="1050" dirty="0"/>
          </a:p>
        </p:txBody>
      </p:sp>
      <p:sp>
        <p:nvSpPr>
          <p:cNvPr id="13" name="Shape 10"/>
          <p:cNvSpPr/>
          <p:nvPr/>
        </p:nvSpPr>
        <p:spPr>
          <a:xfrm>
            <a:off x="548640" y="3977640"/>
            <a:ext cx="5577840" cy="658368"/>
          </a:xfrm>
          <a:prstGeom prst="roundRect">
            <a:avLst>
              <a:gd name="adj" fmla="val 11111"/>
            </a:avLst>
          </a:prstGeom>
          <a:solidFill>
            <a:srgbClr val="EAF3F1"/>
          </a:solidFill>
          <a:ln/>
        </p:spPr>
      </p:sp>
      <p:sp>
        <p:nvSpPr>
          <p:cNvPr id="14" name="Text 11"/>
          <p:cNvSpPr txBox="1"/>
          <p:nvPr/>
        </p:nvSpPr>
        <p:spPr>
          <a:xfrm>
            <a:off x="731520" y="4032504"/>
            <a:ext cx="5212080" cy="274320"/>
          </a:xfrm>
          <a:prstGeom prst="rect">
            <a:avLst/>
          </a:prstGeom>
          <a:noFill/>
          <a:ln/>
        </p:spPr>
        <p:txBody>
          <a:bodyPr wrap="square" rtlCol="0" anchor="ctr"/>
          <a:lstStyle/>
          <a:p>
            <a:pPr indent="0" marL="0">
              <a:buNone/>
            </a:pPr>
            <a:r>
              <a:rPr lang="en-US" sz="1250" b="1" dirty="0">
                <a:solidFill>
                  <a:srgbClr val="123C4A"/>
                </a:solidFill>
                <a:latin typeface="Calibri" pitchFamily="34" charset="0"/>
                <a:ea typeface="Calibri" pitchFamily="34" charset="-122"/>
                <a:cs typeface="Calibri" pitchFamily="34" charset="-120"/>
              </a:rPr>
              <a:t>Nominal categorical (4)</a:t>
            </a:r>
            <a:endParaRPr lang="en-US" sz="1250" dirty="0"/>
          </a:p>
        </p:txBody>
      </p:sp>
      <p:sp>
        <p:nvSpPr>
          <p:cNvPr id="15" name="Text 12"/>
          <p:cNvSpPr txBox="1"/>
          <p:nvPr/>
        </p:nvSpPr>
        <p:spPr>
          <a:xfrm>
            <a:off x="731520" y="4306824"/>
            <a:ext cx="5212080" cy="292608"/>
          </a:xfrm>
          <a:prstGeom prst="rect">
            <a:avLst/>
          </a:prstGeom>
          <a:noFill/>
          <a:ln/>
        </p:spPr>
        <p:txBody>
          <a:bodyPr wrap="square" rtlCol="0" anchor="ctr"/>
          <a:lstStyle/>
          <a:p>
            <a:pPr indent="0" marL="0">
              <a:buNone/>
            </a:pPr>
            <a:r>
              <a:rPr lang="en-US" sz="1050" dirty="0">
                <a:solidFill>
                  <a:srgbClr val="132B31"/>
                </a:solidFill>
                <a:latin typeface="Calibri" pitchFamily="34" charset="0"/>
                <a:ea typeface="Calibri" pitchFamily="34" charset="-122"/>
                <a:cs typeface="Calibri" pitchFamily="34" charset="-120"/>
              </a:rPr>
              <a:t>cp, restecg, slope, thal  → One-Hot Encoded</a:t>
            </a:r>
            <a:endParaRPr lang="en-US" sz="1050" dirty="0"/>
          </a:p>
        </p:txBody>
      </p:sp>
      <p:sp>
        <p:nvSpPr>
          <p:cNvPr id="16" name="Text 13"/>
          <p:cNvSpPr txBox="1"/>
          <p:nvPr/>
        </p:nvSpPr>
        <p:spPr>
          <a:xfrm>
            <a:off x="548640" y="4983480"/>
            <a:ext cx="5577840" cy="777240"/>
          </a:xfrm>
          <a:prstGeom prst="rect">
            <a:avLst/>
          </a:prstGeom>
          <a:noFill/>
          <a:ln/>
        </p:spPr>
        <p:txBody>
          <a:bodyPr wrap="square" rtlCol="0" anchor="ctr"/>
          <a:lstStyle/>
          <a:p>
            <a:pPr indent="0" marL="0">
              <a:lnSpc>
                <a:spcPct val="115000"/>
              </a:lnSpc>
              <a:buNone/>
            </a:pPr>
            <a:r>
              <a:rPr lang="en-US" sz="1000" i="1" dirty="0">
                <a:solidFill>
                  <a:srgbClr val="5B7A78"/>
                </a:solidFill>
                <a:latin typeface="Calibri" pitchFamily="34" charset="0"/>
                <a:ea typeface="Calibri" pitchFamily="34" charset="-122"/>
                <a:cs typeface="Calibri" pitchFamily="34" charset="-120"/>
              </a:rPr>
              <a:t>Data-quality note: cp / restecg / slope / thal codes are inconsistently documented across public mirrors — modelled purely as nominal categories, with no assumed clinical ordering.</a:t>
            </a:r>
            <a:endParaRPr lang="en-US" sz="1000" dirty="0"/>
          </a:p>
        </p:txBody>
      </p:sp>
      <p:sp>
        <p:nvSpPr>
          <p:cNvPr id="17" name="Text 14"/>
          <p:cNvSpPr txBox="1"/>
          <p:nvPr/>
        </p:nvSpPr>
        <p:spPr>
          <a:xfrm>
            <a:off x="6492240" y="1783080"/>
            <a:ext cx="5120640" cy="320040"/>
          </a:xfrm>
          <a:prstGeom prst="rect">
            <a:avLst/>
          </a:prstGeom>
          <a:noFill/>
          <a:ln/>
        </p:spPr>
        <p:txBody>
          <a:bodyPr wrap="square" rtlCol="0" anchor="ctr"/>
          <a:lstStyle/>
          <a:p>
            <a:pPr indent="0" marL="0">
              <a:buNone/>
            </a:pPr>
            <a:r>
              <a:rPr lang="en-US" sz="1300" b="1" dirty="0">
                <a:solidFill>
                  <a:srgbClr val="123C4A"/>
                </a:solidFill>
                <a:latin typeface="Calibri" pitchFamily="34" charset="0"/>
                <a:ea typeface="Calibri" pitchFamily="34" charset="-122"/>
                <a:cs typeface="Calibri" pitchFamily="34" charset="-120"/>
              </a:rPr>
              <a:t>Class balance (after de-duplication, n = 302)</a:t>
            </a:r>
            <a:endParaRPr lang="en-US" sz="1300" dirty="0"/>
          </a:p>
        </p:txBody>
      </p:sp>
      <p:graphicFrame>
        <p:nvGraphicFramePr>
          <p:cNvPr id="18" name="Chart 0" descr=""/>
          <p:cNvGraphicFramePr/>
          <p:nvPr/>
        </p:nvGraphicFramePr>
        <p:xfrm>
          <a:off x="6492240" y="2148840"/>
          <a:ext cx="5120640" cy="2286000"/>
        </p:xfrm>
        <a:graphic xmlns:a="http://schemas.openxmlformats.org/drawingml/2006/main">
          <a:graphicData uri="http://schemas.openxmlformats.org/drawingml/2006/chart">
            <c:chart xmlns:c="http://schemas.openxmlformats.org/drawingml/2006/chart" r:id="rId2"/>
          </a:graphicData>
        </a:graphic>
      </p:graphicFrame>
      <p:sp>
        <p:nvSpPr>
          <p:cNvPr id="19" name="Shape 15"/>
          <p:cNvSpPr/>
          <p:nvPr/>
        </p:nvSpPr>
        <p:spPr>
          <a:xfrm>
            <a:off x="6492240" y="4617720"/>
            <a:ext cx="5120640" cy="1143000"/>
          </a:xfrm>
          <a:prstGeom prst="roundRect">
            <a:avLst>
              <a:gd name="adj" fmla="val 8000"/>
            </a:avLst>
          </a:prstGeom>
          <a:solidFill>
            <a:srgbClr val="EAF3F1"/>
          </a:solidFill>
          <a:ln/>
        </p:spPr>
      </p:sp>
      <p:sp>
        <p:nvSpPr>
          <p:cNvPr id="20" name="Text 16"/>
          <p:cNvSpPr txBox="1"/>
          <p:nvPr/>
        </p:nvSpPr>
        <p:spPr>
          <a:xfrm>
            <a:off x="6720840" y="4800600"/>
            <a:ext cx="4663440" cy="822960"/>
          </a:xfrm>
          <a:prstGeom prst="rect">
            <a:avLst/>
          </a:prstGeom>
          <a:noFill/>
          <a:ln/>
        </p:spPr>
        <p:txBody>
          <a:bodyPr wrap="square" rtlCol="0" anchor="ctr"/>
          <a:lstStyle/>
          <a:p>
            <a:pPr indent="0" marL="0">
              <a:lnSpc>
                <a:spcPct val="120000"/>
              </a:lnSpc>
              <a:buNone/>
            </a:pPr>
            <a:r>
              <a:rPr lang="en-US" sz="1250" b="1" dirty="0">
                <a:solidFill>
                  <a:srgbClr val="123C4A"/>
                </a:solidFill>
                <a:latin typeface="Calibri" pitchFamily="34" charset="0"/>
                <a:ea typeface="Calibri" pitchFamily="34" charset="-122"/>
                <a:cs typeface="Calibri" pitchFamily="34" charset="-120"/>
              </a:rPr>
              <a:t>80 / 20 stratified split
</a:t>
            </a:r>
            <a:endParaRPr lang="en-US" sz="1250" dirty="0"/>
          </a:p>
          <a:p>
            <a:pPr indent="0" marL="0">
              <a:lnSpc>
                <a:spcPct val="120000"/>
              </a:lnSpc>
              <a:buNone/>
            </a:pPr>
            <a:r>
              <a:rPr lang="en-US" sz="1100" dirty="0">
                <a:solidFill>
                  <a:srgbClr val="132B31"/>
                </a:solidFill>
                <a:latin typeface="Calibri" pitchFamily="34" charset="0"/>
                <a:ea typeface="Calibri" pitchFamily="34" charset="-122"/>
                <a:cs typeface="Calibri" pitchFamily="34" charset="-120"/>
              </a:rPr>
              <a:t>Train: 241 patients  |  Test: 61 patients (never touched during tuning)</a:t>
            </a:r>
            <a:endParaRPr lang="en-US" sz="1250" dirty="0"/>
          </a:p>
        </p:txBody>
      </p:sp>
      <p:sp>
        <p:nvSpPr>
          <p:cNvPr id="21" name="Text 17"/>
          <p:cNvSpPr/>
          <p:nvPr/>
        </p:nvSpPr>
        <p:spPr>
          <a:xfrm>
            <a:off x="457200" y="6492240"/>
            <a:ext cx="5486400" cy="274320"/>
          </a:xfrm>
          <a:prstGeom prst="rect">
            <a:avLst/>
          </a:prstGeom>
          <a:noFill/>
          <a:ln/>
        </p:spPr>
        <p:txBody>
          <a:bodyPr wrap="square" rtlCol="0" anchor="ctr"/>
          <a:lstStyle/>
          <a:p>
            <a:pPr indent="0" marL="0">
              <a:buNone/>
            </a:pPr>
            <a:r>
              <a:rPr lang="en-US" sz="900" dirty="0">
                <a:solidFill>
                  <a:srgbClr val="5B7A78"/>
                </a:solidFill>
                <a:latin typeface="Calibri" pitchFamily="34" charset="0"/>
                <a:ea typeface="Calibri" pitchFamily="34" charset="-122"/>
                <a:cs typeface="Calibri" pitchFamily="34" charset="-120"/>
              </a:rPr>
              <a:t>CardioGuard — SMLC Mini Project</a:t>
            </a:r>
            <a:endParaRPr lang="en-US" sz="900" dirty="0"/>
          </a:p>
        </p:txBody>
      </p:sp>
      <p:sp>
        <p:nvSpPr>
          <p:cNvPr id="22" name="Text 18"/>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7A7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515600" cy="548640"/>
          </a:xfrm>
          <a:prstGeom prst="rect">
            <a:avLst/>
          </a:prstGeom>
          <a:noFill/>
          <a:ln/>
        </p:spPr>
        <p:txBody>
          <a:bodyPr wrap="square" rtlCol="0" anchor="ctr"/>
          <a:lstStyle/>
          <a:p>
            <a:pPr indent="0" marL="0">
              <a:buNone/>
            </a:pPr>
            <a:r>
              <a:rPr lang="en-US" sz="2700" b="1" dirty="0">
                <a:solidFill>
                  <a:srgbClr val="123C4A"/>
                </a:solidFill>
                <a:latin typeface="Cambria" pitchFamily="34" charset="0"/>
                <a:ea typeface="Cambria" pitchFamily="34" charset="-122"/>
                <a:cs typeface="Cambria" pitchFamily="34" charset="-120"/>
              </a:rPr>
              <a:t>Clinical Feature Reference (1 of 2)</a:t>
            </a:r>
            <a:endParaRPr lang="en-US" sz="2700" dirty="0"/>
          </a:p>
        </p:txBody>
      </p:sp>
      <p:sp>
        <p:nvSpPr>
          <p:cNvPr id="3" name="Text 1"/>
          <p:cNvSpPr txBox="1"/>
          <p:nvPr/>
        </p:nvSpPr>
        <p:spPr>
          <a:xfrm>
            <a:off x="548640" y="932688"/>
            <a:ext cx="10972800" cy="365760"/>
          </a:xfrm>
          <a:prstGeom prst="rect">
            <a:avLst/>
          </a:prstGeom>
          <a:noFill/>
          <a:ln/>
        </p:spPr>
        <p:txBody>
          <a:bodyPr wrap="square" rtlCol="0" anchor="ctr"/>
          <a:lstStyle/>
          <a:p>
            <a:pPr indent="0" marL="0">
              <a:buNone/>
            </a:pPr>
            <a:r>
              <a:rPr lang="en-US" sz="1250" dirty="0">
                <a:solidFill>
                  <a:srgbClr val="5B7A78"/>
                </a:solidFill>
                <a:latin typeface="Calibri" pitchFamily="34" charset="0"/>
                <a:ea typeface="Calibri" pitchFamily="34" charset="-122"/>
                <a:cs typeface="Calibri" pitchFamily="34" charset="-120"/>
              </a:rPr>
              <a:t>What each column means, in full, and what a typical healthy value looks like</a:t>
            </a:r>
            <a:endParaRPr lang="en-US" sz="1250" dirty="0"/>
          </a:p>
        </p:txBody>
      </p:sp>
      <p:sp>
        <p:nvSpPr>
          <p:cNvPr id="4" name="Shape 2"/>
          <p:cNvSpPr/>
          <p:nvPr/>
        </p:nvSpPr>
        <p:spPr>
          <a:xfrm>
            <a:off x="548640" y="1508760"/>
            <a:ext cx="914400" cy="384048"/>
          </a:xfrm>
          <a:prstGeom prst="rect">
            <a:avLst/>
          </a:prstGeom>
          <a:solidFill>
            <a:srgbClr val="123C4A"/>
          </a:solidFill>
          <a:ln w="9525">
            <a:solidFill>
              <a:srgbClr val="FFFFFF"/>
            </a:solidFill>
            <a:prstDash val="solid"/>
          </a:ln>
        </p:spPr>
      </p:sp>
      <p:sp>
        <p:nvSpPr>
          <p:cNvPr id="5" name="Text 3"/>
          <p:cNvSpPr txBox="1"/>
          <p:nvPr/>
        </p:nvSpPr>
        <p:spPr>
          <a:xfrm>
            <a:off x="594360" y="1508760"/>
            <a:ext cx="8229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Code</a:t>
            </a:r>
            <a:endParaRPr lang="en-US" sz="1150" dirty="0"/>
          </a:p>
        </p:txBody>
      </p:sp>
      <p:sp>
        <p:nvSpPr>
          <p:cNvPr id="6" name="Shape 4"/>
          <p:cNvSpPr/>
          <p:nvPr/>
        </p:nvSpPr>
        <p:spPr>
          <a:xfrm>
            <a:off x="1463040" y="1508760"/>
            <a:ext cx="1920240" cy="384048"/>
          </a:xfrm>
          <a:prstGeom prst="rect">
            <a:avLst/>
          </a:prstGeom>
          <a:solidFill>
            <a:srgbClr val="123C4A"/>
          </a:solidFill>
          <a:ln w="9525">
            <a:solidFill>
              <a:srgbClr val="FFFFFF"/>
            </a:solidFill>
            <a:prstDash val="solid"/>
          </a:ln>
        </p:spPr>
      </p:sp>
      <p:sp>
        <p:nvSpPr>
          <p:cNvPr id="7" name="Text 5"/>
          <p:cNvSpPr txBox="1"/>
          <p:nvPr/>
        </p:nvSpPr>
        <p:spPr>
          <a:xfrm>
            <a:off x="1508760" y="1508760"/>
            <a:ext cx="182880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Full Name</a:t>
            </a:r>
            <a:endParaRPr lang="en-US" sz="1150" dirty="0"/>
          </a:p>
        </p:txBody>
      </p:sp>
      <p:sp>
        <p:nvSpPr>
          <p:cNvPr id="8" name="Shape 6"/>
          <p:cNvSpPr/>
          <p:nvPr/>
        </p:nvSpPr>
        <p:spPr>
          <a:xfrm>
            <a:off x="3383280" y="1508760"/>
            <a:ext cx="5212080" cy="384048"/>
          </a:xfrm>
          <a:prstGeom prst="rect">
            <a:avLst/>
          </a:prstGeom>
          <a:solidFill>
            <a:srgbClr val="123C4A"/>
          </a:solidFill>
          <a:ln w="9525">
            <a:solidFill>
              <a:srgbClr val="FFFFFF"/>
            </a:solidFill>
            <a:prstDash val="solid"/>
          </a:ln>
        </p:spPr>
      </p:sp>
      <p:sp>
        <p:nvSpPr>
          <p:cNvPr id="9" name="Text 7"/>
          <p:cNvSpPr txBox="1"/>
          <p:nvPr/>
        </p:nvSpPr>
        <p:spPr>
          <a:xfrm>
            <a:off x="3429000" y="1508760"/>
            <a:ext cx="512064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What It Means</a:t>
            </a:r>
            <a:endParaRPr lang="en-US" sz="1150" dirty="0"/>
          </a:p>
        </p:txBody>
      </p:sp>
      <p:sp>
        <p:nvSpPr>
          <p:cNvPr id="10" name="Shape 8"/>
          <p:cNvSpPr/>
          <p:nvPr/>
        </p:nvSpPr>
        <p:spPr>
          <a:xfrm>
            <a:off x="8595360" y="1508760"/>
            <a:ext cx="3017520" cy="384048"/>
          </a:xfrm>
          <a:prstGeom prst="rect">
            <a:avLst/>
          </a:prstGeom>
          <a:solidFill>
            <a:srgbClr val="123C4A"/>
          </a:solidFill>
          <a:ln w="9525">
            <a:solidFill>
              <a:srgbClr val="FFFFFF"/>
            </a:solidFill>
            <a:prstDash val="solid"/>
          </a:ln>
        </p:spPr>
      </p:sp>
      <p:sp>
        <p:nvSpPr>
          <p:cNvPr id="11" name="Text 9"/>
          <p:cNvSpPr txBox="1"/>
          <p:nvPr/>
        </p:nvSpPr>
        <p:spPr>
          <a:xfrm>
            <a:off x="8641080" y="1508760"/>
            <a:ext cx="292608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Typical Healthy Range</a:t>
            </a:r>
            <a:endParaRPr lang="en-US" sz="1150" dirty="0"/>
          </a:p>
        </p:txBody>
      </p:sp>
      <p:sp>
        <p:nvSpPr>
          <p:cNvPr id="12" name="Shape 10"/>
          <p:cNvSpPr/>
          <p:nvPr/>
        </p:nvSpPr>
        <p:spPr>
          <a:xfrm>
            <a:off x="548640" y="1892808"/>
            <a:ext cx="914400" cy="566928"/>
          </a:xfrm>
          <a:prstGeom prst="rect">
            <a:avLst/>
          </a:prstGeom>
          <a:solidFill>
            <a:srgbClr val="F7FAF9"/>
          </a:solidFill>
          <a:ln w="6350">
            <a:solidFill>
              <a:srgbClr val="E2EAE8"/>
            </a:solidFill>
            <a:prstDash val="solid"/>
          </a:ln>
        </p:spPr>
      </p:sp>
      <p:sp>
        <p:nvSpPr>
          <p:cNvPr id="13" name="Text 11"/>
          <p:cNvSpPr txBox="1"/>
          <p:nvPr/>
        </p:nvSpPr>
        <p:spPr>
          <a:xfrm>
            <a:off x="612648" y="1911096"/>
            <a:ext cx="786384" cy="530352"/>
          </a:xfrm>
          <a:prstGeom prst="rect">
            <a:avLst/>
          </a:prstGeom>
          <a:noFill/>
          <a:ln/>
        </p:spPr>
        <p:txBody>
          <a:bodyPr wrap="square" rtlCol="0" anchor="ctr"/>
          <a:lstStyle/>
          <a:p>
            <a:pPr indent="0" marL="0">
              <a:lnSpc>
                <a:spcPct val="100000"/>
              </a:lnSpc>
              <a:buNone/>
            </a:pPr>
            <a:r>
              <a:rPr lang="en-US" sz="1050" b="1" dirty="0">
                <a:solidFill>
                  <a:srgbClr val="123C4A"/>
                </a:solidFill>
                <a:latin typeface="Calibri" pitchFamily="34" charset="0"/>
                <a:ea typeface="Calibri" pitchFamily="34" charset="-122"/>
                <a:cs typeface="Calibri" pitchFamily="34" charset="-120"/>
              </a:rPr>
              <a:t>age</a:t>
            </a:r>
            <a:endParaRPr lang="en-US" sz="1050" dirty="0"/>
          </a:p>
        </p:txBody>
      </p:sp>
      <p:sp>
        <p:nvSpPr>
          <p:cNvPr id="14" name="Shape 12"/>
          <p:cNvSpPr/>
          <p:nvPr/>
        </p:nvSpPr>
        <p:spPr>
          <a:xfrm>
            <a:off x="1463040" y="1892808"/>
            <a:ext cx="1920240" cy="566928"/>
          </a:xfrm>
          <a:prstGeom prst="rect">
            <a:avLst/>
          </a:prstGeom>
          <a:solidFill>
            <a:srgbClr val="F7FAF9"/>
          </a:solidFill>
          <a:ln w="6350">
            <a:solidFill>
              <a:srgbClr val="E2EAE8"/>
            </a:solidFill>
            <a:prstDash val="solid"/>
          </a:ln>
        </p:spPr>
      </p:sp>
      <p:sp>
        <p:nvSpPr>
          <p:cNvPr id="15" name="Text 13"/>
          <p:cNvSpPr txBox="1"/>
          <p:nvPr/>
        </p:nvSpPr>
        <p:spPr>
          <a:xfrm>
            <a:off x="1527048" y="1911096"/>
            <a:ext cx="1792224" cy="53035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Age</a:t>
            </a:r>
            <a:endParaRPr lang="en-US" sz="1050" dirty="0"/>
          </a:p>
        </p:txBody>
      </p:sp>
      <p:sp>
        <p:nvSpPr>
          <p:cNvPr id="16" name="Shape 14"/>
          <p:cNvSpPr/>
          <p:nvPr/>
        </p:nvSpPr>
        <p:spPr>
          <a:xfrm>
            <a:off x="3383280" y="1892808"/>
            <a:ext cx="5212080" cy="566928"/>
          </a:xfrm>
          <a:prstGeom prst="rect">
            <a:avLst/>
          </a:prstGeom>
          <a:solidFill>
            <a:srgbClr val="F7FAF9"/>
          </a:solidFill>
          <a:ln w="6350">
            <a:solidFill>
              <a:srgbClr val="E2EAE8"/>
            </a:solidFill>
            <a:prstDash val="solid"/>
          </a:ln>
        </p:spPr>
      </p:sp>
      <p:sp>
        <p:nvSpPr>
          <p:cNvPr id="17" name="Text 15"/>
          <p:cNvSpPr txBox="1"/>
          <p:nvPr/>
        </p:nvSpPr>
        <p:spPr>
          <a:xfrm>
            <a:off x="3447288" y="1911096"/>
            <a:ext cx="5084064" cy="53035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Patient's age in years</a:t>
            </a:r>
            <a:endParaRPr lang="en-US" sz="1050" dirty="0"/>
          </a:p>
        </p:txBody>
      </p:sp>
      <p:sp>
        <p:nvSpPr>
          <p:cNvPr id="18" name="Shape 16"/>
          <p:cNvSpPr/>
          <p:nvPr/>
        </p:nvSpPr>
        <p:spPr>
          <a:xfrm>
            <a:off x="8595360" y="1892808"/>
            <a:ext cx="3017520" cy="566928"/>
          </a:xfrm>
          <a:prstGeom prst="rect">
            <a:avLst/>
          </a:prstGeom>
          <a:solidFill>
            <a:srgbClr val="F7FAF9"/>
          </a:solidFill>
          <a:ln w="6350">
            <a:solidFill>
              <a:srgbClr val="E2EAE8"/>
            </a:solidFill>
            <a:prstDash val="solid"/>
          </a:ln>
        </p:spPr>
      </p:sp>
      <p:sp>
        <p:nvSpPr>
          <p:cNvPr id="19" name="Text 17"/>
          <p:cNvSpPr txBox="1"/>
          <p:nvPr/>
        </p:nvSpPr>
        <p:spPr>
          <a:xfrm>
            <a:off x="8659368" y="1911096"/>
            <a:ext cx="2889504" cy="53035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N/A — risk generally rises with age</a:t>
            </a:r>
            <a:endParaRPr lang="en-US" sz="1050" dirty="0"/>
          </a:p>
        </p:txBody>
      </p:sp>
      <p:sp>
        <p:nvSpPr>
          <p:cNvPr id="20" name="Shape 18"/>
          <p:cNvSpPr/>
          <p:nvPr/>
        </p:nvSpPr>
        <p:spPr>
          <a:xfrm>
            <a:off x="548640" y="2459736"/>
            <a:ext cx="914400" cy="566928"/>
          </a:xfrm>
          <a:prstGeom prst="rect">
            <a:avLst/>
          </a:prstGeom>
          <a:solidFill>
            <a:srgbClr val="FFFFFF"/>
          </a:solidFill>
          <a:ln w="6350">
            <a:solidFill>
              <a:srgbClr val="E2EAE8"/>
            </a:solidFill>
            <a:prstDash val="solid"/>
          </a:ln>
        </p:spPr>
      </p:sp>
      <p:sp>
        <p:nvSpPr>
          <p:cNvPr id="21" name="Text 19"/>
          <p:cNvSpPr txBox="1"/>
          <p:nvPr/>
        </p:nvSpPr>
        <p:spPr>
          <a:xfrm>
            <a:off x="612648" y="2478024"/>
            <a:ext cx="786384" cy="530352"/>
          </a:xfrm>
          <a:prstGeom prst="rect">
            <a:avLst/>
          </a:prstGeom>
          <a:noFill/>
          <a:ln/>
        </p:spPr>
        <p:txBody>
          <a:bodyPr wrap="square" rtlCol="0" anchor="ctr"/>
          <a:lstStyle/>
          <a:p>
            <a:pPr indent="0" marL="0">
              <a:lnSpc>
                <a:spcPct val="100000"/>
              </a:lnSpc>
              <a:buNone/>
            </a:pPr>
            <a:r>
              <a:rPr lang="en-US" sz="1050" b="1" dirty="0">
                <a:solidFill>
                  <a:srgbClr val="123C4A"/>
                </a:solidFill>
                <a:latin typeface="Calibri" pitchFamily="34" charset="0"/>
                <a:ea typeface="Calibri" pitchFamily="34" charset="-122"/>
                <a:cs typeface="Calibri" pitchFamily="34" charset="-120"/>
              </a:rPr>
              <a:t>sex</a:t>
            </a:r>
            <a:endParaRPr lang="en-US" sz="1050" dirty="0"/>
          </a:p>
        </p:txBody>
      </p:sp>
      <p:sp>
        <p:nvSpPr>
          <p:cNvPr id="22" name="Shape 20"/>
          <p:cNvSpPr/>
          <p:nvPr/>
        </p:nvSpPr>
        <p:spPr>
          <a:xfrm>
            <a:off x="1463040" y="2459736"/>
            <a:ext cx="1920240" cy="566928"/>
          </a:xfrm>
          <a:prstGeom prst="rect">
            <a:avLst/>
          </a:prstGeom>
          <a:solidFill>
            <a:srgbClr val="FFFFFF"/>
          </a:solidFill>
          <a:ln w="6350">
            <a:solidFill>
              <a:srgbClr val="E2EAE8"/>
            </a:solidFill>
            <a:prstDash val="solid"/>
          </a:ln>
        </p:spPr>
      </p:sp>
      <p:sp>
        <p:nvSpPr>
          <p:cNvPr id="23" name="Text 21"/>
          <p:cNvSpPr txBox="1"/>
          <p:nvPr/>
        </p:nvSpPr>
        <p:spPr>
          <a:xfrm>
            <a:off x="1527048" y="2478024"/>
            <a:ext cx="1792224" cy="53035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Sex</a:t>
            </a:r>
            <a:endParaRPr lang="en-US" sz="1050" dirty="0"/>
          </a:p>
        </p:txBody>
      </p:sp>
      <p:sp>
        <p:nvSpPr>
          <p:cNvPr id="24" name="Shape 22"/>
          <p:cNvSpPr/>
          <p:nvPr/>
        </p:nvSpPr>
        <p:spPr>
          <a:xfrm>
            <a:off x="3383280" y="2459736"/>
            <a:ext cx="5212080" cy="566928"/>
          </a:xfrm>
          <a:prstGeom prst="rect">
            <a:avLst/>
          </a:prstGeom>
          <a:solidFill>
            <a:srgbClr val="FFFFFF"/>
          </a:solidFill>
          <a:ln w="6350">
            <a:solidFill>
              <a:srgbClr val="E2EAE8"/>
            </a:solidFill>
            <a:prstDash val="solid"/>
          </a:ln>
        </p:spPr>
      </p:sp>
      <p:sp>
        <p:nvSpPr>
          <p:cNvPr id="25" name="Text 23"/>
          <p:cNvSpPr txBox="1"/>
          <p:nvPr/>
        </p:nvSpPr>
        <p:spPr>
          <a:xfrm>
            <a:off x="3447288" y="2478024"/>
            <a:ext cx="5084064" cy="53035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Biological sex (0 = Female, 1 = Male)</a:t>
            </a:r>
            <a:endParaRPr lang="en-US" sz="1050" dirty="0"/>
          </a:p>
        </p:txBody>
      </p:sp>
      <p:sp>
        <p:nvSpPr>
          <p:cNvPr id="26" name="Shape 24"/>
          <p:cNvSpPr/>
          <p:nvPr/>
        </p:nvSpPr>
        <p:spPr>
          <a:xfrm>
            <a:off x="8595360" y="2459736"/>
            <a:ext cx="3017520" cy="566928"/>
          </a:xfrm>
          <a:prstGeom prst="rect">
            <a:avLst/>
          </a:prstGeom>
          <a:solidFill>
            <a:srgbClr val="FFFFFF"/>
          </a:solidFill>
          <a:ln w="6350">
            <a:solidFill>
              <a:srgbClr val="E2EAE8"/>
            </a:solidFill>
            <a:prstDash val="solid"/>
          </a:ln>
        </p:spPr>
      </p:sp>
      <p:sp>
        <p:nvSpPr>
          <p:cNvPr id="27" name="Text 25"/>
          <p:cNvSpPr txBox="1"/>
          <p:nvPr/>
        </p:nvSpPr>
        <p:spPr>
          <a:xfrm>
            <a:off x="8659368" y="2478024"/>
            <a:ext cx="2889504" cy="53035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Categorical — not a risk value</a:t>
            </a:r>
            <a:endParaRPr lang="en-US" sz="1050" dirty="0"/>
          </a:p>
        </p:txBody>
      </p:sp>
      <p:sp>
        <p:nvSpPr>
          <p:cNvPr id="28" name="Shape 26"/>
          <p:cNvSpPr/>
          <p:nvPr/>
        </p:nvSpPr>
        <p:spPr>
          <a:xfrm>
            <a:off x="548640" y="3026664"/>
            <a:ext cx="914400" cy="566928"/>
          </a:xfrm>
          <a:prstGeom prst="rect">
            <a:avLst/>
          </a:prstGeom>
          <a:solidFill>
            <a:srgbClr val="F7FAF9"/>
          </a:solidFill>
          <a:ln w="6350">
            <a:solidFill>
              <a:srgbClr val="E2EAE8"/>
            </a:solidFill>
            <a:prstDash val="solid"/>
          </a:ln>
        </p:spPr>
      </p:sp>
      <p:sp>
        <p:nvSpPr>
          <p:cNvPr id="29" name="Text 27"/>
          <p:cNvSpPr txBox="1"/>
          <p:nvPr/>
        </p:nvSpPr>
        <p:spPr>
          <a:xfrm>
            <a:off x="612648" y="3044952"/>
            <a:ext cx="786384" cy="530352"/>
          </a:xfrm>
          <a:prstGeom prst="rect">
            <a:avLst/>
          </a:prstGeom>
          <a:noFill/>
          <a:ln/>
        </p:spPr>
        <p:txBody>
          <a:bodyPr wrap="square" rtlCol="0" anchor="ctr"/>
          <a:lstStyle/>
          <a:p>
            <a:pPr indent="0" marL="0">
              <a:lnSpc>
                <a:spcPct val="100000"/>
              </a:lnSpc>
              <a:buNone/>
            </a:pPr>
            <a:r>
              <a:rPr lang="en-US" sz="1050" b="1" dirty="0">
                <a:solidFill>
                  <a:srgbClr val="123C4A"/>
                </a:solidFill>
                <a:latin typeface="Calibri" pitchFamily="34" charset="0"/>
                <a:ea typeface="Calibri" pitchFamily="34" charset="-122"/>
                <a:cs typeface="Calibri" pitchFamily="34" charset="-120"/>
              </a:rPr>
              <a:t>cp</a:t>
            </a:r>
            <a:endParaRPr lang="en-US" sz="1050" dirty="0"/>
          </a:p>
        </p:txBody>
      </p:sp>
      <p:sp>
        <p:nvSpPr>
          <p:cNvPr id="30" name="Shape 28"/>
          <p:cNvSpPr/>
          <p:nvPr/>
        </p:nvSpPr>
        <p:spPr>
          <a:xfrm>
            <a:off x="1463040" y="3026664"/>
            <a:ext cx="1920240" cy="566928"/>
          </a:xfrm>
          <a:prstGeom prst="rect">
            <a:avLst/>
          </a:prstGeom>
          <a:solidFill>
            <a:srgbClr val="F7FAF9"/>
          </a:solidFill>
          <a:ln w="6350">
            <a:solidFill>
              <a:srgbClr val="E2EAE8"/>
            </a:solidFill>
            <a:prstDash val="solid"/>
          </a:ln>
        </p:spPr>
      </p:sp>
      <p:sp>
        <p:nvSpPr>
          <p:cNvPr id="31" name="Text 29"/>
          <p:cNvSpPr txBox="1"/>
          <p:nvPr/>
        </p:nvSpPr>
        <p:spPr>
          <a:xfrm>
            <a:off x="1527048" y="3044952"/>
            <a:ext cx="1792224" cy="53035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Chest Pain Type</a:t>
            </a:r>
            <a:endParaRPr lang="en-US" sz="1050" dirty="0"/>
          </a:p>
        </p:txBody>
      </p:sp>
      <p:sp>
        <p:nvSpPr>
          <p:cNvPr id="32" name="Shape 30"/>
          <p:cNvSpPr/>
          <p:nvPr/>
        </p:nvSpPr>
        <p:spPr>
          <a:xfrm>
            <a:off x="3383280" y="3026664"/>
            <a:ext cx="5212080" cy="566928"/>
          </a:xfrm>
          <a:prstGeom prst="rect">
            <a:avLst/>
          </a:prstGeom>
          <a:solidFill>
            <a:srgbClr val="F7FAF9"/>
          </a:solidFill>
          <a:ln w="6350">
            <a:solidFill>
              <a:srgbClr val="E2EAE8"/>
            </a:solidFill>
            <a:prstDash val="solid"/>
          </a:ln>
        </p:spPr>
      </p:sp>
      <p:sp>
        <p:nvSpPr>
          <p:cNvPr id="33" name="Text 31"/>
          <p:cNvSpPr txBox="1"/>
          <p:nvPr/>
        </p:nvSpPr>
        <p:spPr>
          <a:xfrm>
            <a:off x="3447288" y="3044952"/>
            <a:ext cx="5084064" cy="53035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Clinical category of chest pain experienced (4 codes, 0–3)</a:t>
            </a:r>
            <a:endParaRPr lang="en-US" sz="1050" dirty="0"/>
          </a:p>
        </p:txBody>
      </p:sp>
      <p:sp>
        <p:nvSpPr>
          <p:cNvPr id="34" name="Shape 32"/>
          <p:cNvSpPr/>
          <p:nvPr/>
        </p:nvSpPr>
        <p:spPr>
          <a:xfrm>
            <a:off x="8595360" y="3026664"/>
            <a:ext cx="3017520" cy="566928"/>
          </a:xfrm>
          <a:prstGeom prst="rect">
            <a:avLst/>
          </a:prstGeom>
          <a:solidFill>
            <a:srgbClr val="F7FAF9"/>
          </a:solidFill>
          <a:ln w="6350">
            <a:solidFill>
              <a:srgbClr val="E2EAE8"/>
            </a:solidFill>
            <a:prstDash val="solid"/>
          </a:ln>
        </p:spPr>
      </p:sp>
      <p:sp>
        <p:nvSpPr>
          <p:cNvPr id="35" name="Text 33"/>
          <p:cNvSpPr txBox="1"/>
          <p:nvPr/>
        </p:nvSpPr>
        <p:spPr>
          <a:xfrm>
            <a:off x="8659368" y="3044952"/>
            <a:ext cx="2889504" cy="53035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Categorical — codes vary by source; see note</a:t>
            </a:r>
            <a:endParaRPr lang="en-US" sz="1050" dirty="0"/>
          </a:p>
        </p:txBody>
      </p:sp>
      <p:sp>
        <p:nvSpPr>
          <p:cNvPr id="36" name="Shape 34"/>
          <p:cNvSpPr/>
          <p:nvPr/>
        </p:nvSpPr>
        <p:spPr>
          <a:xfrm>
            <a:off x="548640" y="3593592"/>
            <a:ext cx="914400" cy="566928"/>
          </a:xfrm>
          <a:prstGeom prst="rect">
            <a:avLst/>
          </a:prstGeom>
          <a:solidFill>
            <a:srgbClr val="FFFFFF"/>
          </a:solidFill>
          <a:ln w="6350">
            <a:solidFill>
              <a:srgbClr val="E2EAE8"/>
            </a:solidFill>
            <a:prstDash val="solid"/>
          </a:ln>
        </p:spPr>
      </p:sp>
      <p:sp>
        <p:nvSpPr>
          <p:cNvPr id="37" name="Text 35"/>
          <p:cNvSpPr txBox="1"/>
          <p:nvPr/>
        </p:nvSpPr>
        <p:spPr>
          <a:xfrm>
            <a:off x="612648" y="3611880"/>
            <a:ext cx="786384" cy="530352"/>
          </a:xfrm>
          <a:prstGeom prst="rect">
            <a:avLst/>
          </a:prstGeom>
          <a:noFill/>
          <a:ln/>
        </p:spPr>
        <p:txBody>
          <a:bodyPr wrap="square" rtlCol="0" anchor="ctr"/>
          <a:lstStyle/>
          <a:p>
            <a:pPr indent="0" marL="0">
              <a:lnSpc>
                <a:spcPct val="100000"/>
              </a:lnSpc>
              <a:buNone/>
            </a:pPr>
            <a:r>
              <a:rPr lang="en-US" sz="1050" b="1" dirty="0">
                <a:solidFill>
                  <a:srgbClr val="123C4A"/>
                </a:solidFill>
                <a:latin typeface="Calibri" pitchFamily="34" charset="0"/>
                <a:ea typeface="Calibri" pitchFamily="34" charset="-122"/>
                <a:cs typeface="Calibri" pitchFamily="34" charset="-120"/>
              </a:rPr>
              <a:t>trestbps</a:t>
            </a:r>
            <a:endParaRPr lang="en-US" sz="1050" dirty="0"/>
          </a:p>
        </p:txBody>
      </p:sp>
      <p:sp>
        <p:nvSpPr>
          <p:cNvPr id="38" name="Shape 36"/>
          <p:cNvSpPr/>
          <p:nvPr/>
        </p:nvSpPr>
        <p:spPr>
          <a:xfrm>
            <a:off x="1463040" y="3593592"/>
            <a:ext cx="1920240" cy="566928"/>
          </a:xfrm>
          <a:prstGeom prst="rect">
            <a:avLst/>
          </a:prstGeom>
          <a:solidFill>
            <a:srgbClr val="FFFFFF"/>
          </a:solidFill>
          <a:ln w="6350">
            <a:solidFill>
              <a:srgbClr val="E2EAE8"/>
            </a:solidFill>
            <a:prstDash val="solid"/>
          </a:ln>
        </p:spPr>
      </p:sp>
      <p:sp>
        <p:nvSpPr>
          <p:cNvPr id="39" name="Text 37"/>
          <p:cNvSpPr txBox="1"/>
          <p:nvPr/>
        </p:nvSpPr>
        <p:spPr>
          <a:xfrm>
            <a:off x="1527048" y="3611880"/>
            <a:ext cx="1792224" cy="53035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Resting Blood Pressure</a:t>
            </a:r>
            <a:endParaRPr lang="en-US" sz="1050" dirty="0"/>
          </a:p>
        </p:txBody>
      </p:sp>
      <p:sp>
        <p:nvSpPr>
          <p:cNvPr id="40" name="Shape 38"/>
          <p:cNvSpPr/>
          <p:nvPr/>
        </p:nvSpPr>
        <p:spPr>
          <a:xfrm>
            <a:off x="3383280" y="3593592"/>
            <a:ext cx="5212080" cy="566928"/>
          </a:xfrm>
          <a:prstGeom prst="rect">
            <a:avLst/>
          </a:prstGeom>
          <a:solidFill>
            <a:srgbClr val="FFFFFF"/>
          </a:solidFill>
          <a:ln w="6350">
            <a:solidFill>
              <a:srgbClr val="E2EAE8"/>
            </a:solidFill>
            <a:prstDash val="solid"/>
          </a:ln>
        </p:spPr>
      </p:sp>
      <p:sp>
        <p:nvSpPr>
          <p:cNvPr id="41" name="Text 39"/>
          <p:cNvSpPr txBox="1"/>
          <p:nvPr/>
        </p:nvSpPr>
        <p:spPr>
          <a:xfrm>
            <a:off x="3447288" y="3611880"/>
            <a:ext cx="5084064" cy="53035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Blood pressure (mm Hg) measured while at rest</a:t>
            </a:r>
            <a:endParaRPr lang="en-US" sz="1050" dirty="0"/>
          </a:p>
        </p:txBody>
      </p:sp>
      <p:sp>
        <p:nvSpPr>
          <p:cNvPr id="42" name="Shape 40"/>
          <p:cNvSpPr/>
          <p:nvPr/>
        </p:nvSpPr>
        <p:spPr>
          <a:xfrm>
            <a:off x="8595360" y="3593592"/>
            <a:ext cx="3017520" cy="566928"/>
          </a:xfrm>
          <a:prstGeom prst="rect">
            <a:avLst/>
          </a:prstGeom>
          <a:solidFill>
            <a:srgbClr val="FFFFFF"/>
          </a:solidFill>
          <a:ln w="6350">
            <a:solidFill>
              <a:srgbClr val="E2EAE8"/>
            </a:solidFill>
            <a:prstDash val="solid"/>
          </a:ln>
        </p:spPr>
      </p:sp>
      <p:sp>
        <p:nvSpPr>
          <p:cNvPr id="43" name="Text 41"/>
          <p:cNvSpPr txBox="1"/>
          <p:nvPr/>
        </p:nvSpPr>
        <p:spPr>
          <a:xfrm>
            <a:off x="8659368" y="3611880"/>
            <a:ext cx="2889504" cy="53035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 90–120 mm Hg considered normal</a:t>
            </a:r>
            <a:endParaRPr lang="en-US" sz="1050" dirty="0"/>
          </a:p>
        </p:txBody>
      </p:sp>
      <p:sp>
        <p:nvSpPr>
          <p:cNvPr id="44" name="Shape 42"/>
          <p:cNvSpPr/>
          <p:nvPr/>
        </p:nvSpPr>
        <p:spPr>
          <a:xfrm>
            <a:off x="548640" y="4160520"/>
            <a:ext cx="914400" cy="566928"/>
          </a:xfrm>
          <a:prstGeom prst="rect">
            <a:avLst/>
          </a:prstGeom>
          <a:solidFill>
            <a:srgbClr val="F7FAF9"/>
          </a:solidFill>
          <a:ln w="6350">
            <a:solidFill>
              <a:srgbClr val="E2EAE8"/>
            </a:solidFill>
            <a:prstDash val="solid"/>
          </a:ln>
        </p:spPr>
      </p:sp>
      <p:sp>
        <p:nvSpPr>
          <p:cNvPr id="45" name="Text 43"/>
          <p:cNvSpPr txBox="1"/>
          <p:nvPr/>
        </p:nvSpPr>
        <p:spPr>
          <a:xfrm>
            <a:off x="612648" y="4178808"/>
            <a:ext cx="786384" cy="530352"/>
          </a:xfrm>
          <a:prstGeom prst="rect">
            <a:avLst/>
          </a:prstGeom>
          <a:noFill/>
          <a:ln/>
        </p:spPr>
        <p:txBody>
          <a:bodyPr wrap="square" rtlCol="0" anchor="ctr"/>
          <a:lstStyle/>
          <a:p>
            <a:pPr indent="0" marL="0">
              <a:lnSpc>
                <a:spcPct val="100000"/>
              </a:lnSpc>
              <a:buNone/>
            </a:pPr>
            <a:r>
              <a:rPr lang="en-US" sz="1050" b="1" dirty="0">
                <a:solidFill>
                  <a:srgbClr val="123C4A"/>
                </a:solidFill>
                <a:latin typeface="Calibri" pitchFamily="34" charset="0"/>
                <a:ea typeface="Calibri" pitchFamily="34" charset="-122"/>
                <a:cs typeface="Calibri" pitchFamily="34" charset="-120"/>
              </a:rPr>
              <a:t>chol</a:t>
            </a:r>
            <a:endParaRPr lang="en-US" sz="1050" dirty="0"/>
          </a:p>
        </p:txBody>
      </p:sp>
      <p:sp>
        <p:nvSpPr>
          <p:cNvPr id="46" name="Shape 44"/>
          <p:cNvSpPr/>
          <p:nvPr/>
        </p:nvSpPr>
        <p:spPr>
          <a:xfrm>
            <a:off x="1463040" y="4160520"/>
            <a:ext cx="1920240" cy="566928"/>
          </a:xfrm>
          <a:prstGeom prst="rect">
            <a:avLst/>
          </a:prstGeom>
          <a:solidFill>
            <a:srgbClr val="F7FAF9"/>
          </a:solidFill>
          <a:ln w="6350">
            <a:solidFill>
              <a:srgbClr val="E2EAE8"/>
            </a:solidFill>
            <a:prstDash val="solid"/>
          </a:ln>
        </p:spPr>
      </p:sp>
      <p:sp>
        <p:nvSpPr>
          <p:cNvPr id="47" name="Text 45"/>
          <p:cNvSpPr txBox="1"/>
          <p:nvPr/>
        </p:nvSpPr>
        <p:spPr>
          <a:xfrm>
            <a:off x="1527048" y="4178808"/>
            <a:ext cx="1792224" cy="53035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Serum Cholesterol</a:t>
            </a:r>
            <a:endParaRPr lang="en-US" sz="1050" dirty="0"/>
          </a:p>
        </p:txBody>
      </p:sp>
      <p:sp>
        <p:nvSpPr>
          <p:cNvPr id="48" name="Shape 46"/>
          <p:cNvSpPr/>
          <p:nvPr/>
        </p:nvSpPr>
        <p:spPr>
          <a:xfrm>
            <a:off x="3383280" y="4160520"/>
            <a:ext cx="5212080" cy="566928"/>
          </a:xfrm>
          <a:prstGeom prst="rect">
            <a:avLst/>
          </a:prstGeom>
          <a:solidFill>
            <a:srgbClr val="F7FAF9"/>
          </a:solidFill>
          <a:ln w="6350">
            <a:solidFill>
              <a:srgbClr val="E2EAE8"/>
            </a:solidFill>
            <a:prstDash val="solid"/>
          </a:ln>
        </p:spPr>
      </p:sp>
      <p:sp>
        <p:nvSpPr>
          <p:cNvPr id="49" name="Text 47"/>
          <p:cNvSpPr txBox="1"/>
          <p:nvPr/>
        </p:nvSpPr>
        <p:spPr>
          <a:xfrm>
            <a:off x="3447288" y="4178808"/>
            <a:ext cx="5084064" cy="53035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Cholesterol level in the blood (mg/dl)</a:t>
            </a:r>
            <a:endParaRPr lang="en-US" sz="1050" dirty="0"/>
          </a:p>
        </p:txBody>
      </p:sp>
      <p:sp>
        <p:nvSpPr>
          <p:cNvPr id="50" name="Shape 48"/>
          <p:cNvSpPr/>
          <p:nvPr/>
        </p:nvSpPr>
        <p:spPr>
          <a:xfrm>
            <a:off x="8595360" y="4160520"/>
            <a:ext cx="3017520" cy="566928"/>
          </a:xfrm>
          <a:prstGeom prst="rect">
            <a:avLst/>
          </a:prstGeom>
          <a:solidFill>
            <a:srgbClr val="F7FAF9"/>
          </a:solidFill>
          <a:ln w="6350">
            <a:solidFill>
              <a:srgbClr val="E2EAE8"/>
            </a:solidFill>
            <a:prstDash val="solid"/>
          </a:ln>
        </p:spPr>
      </p:sp>
      <p:sp>
        <p:nvSpPr>
          <p:cNvPr id="51" name="Text 49"/>
          <p:cNvSpPr txBox="1"/>
          <p:nvPr/>
        </p:nvSpPr>
        <p:spPr>
          <a:xfrm>
            <a:off x="8659368" y="4178808"/>
            <a:ext cx="2889504" cy="53035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Below 200 mg/dl is desirable</a:t>
            </a:r>
            <a:endParaRPr lang="en-US" sz="1050" dirty="0"/>
          </a:p>
        </p:txBody>
      </p:sp>
      <p:sp>
        <p:nvSpPr>
          <p:cNvPr id="52" name="Shape 50"/>
          <p:cNvSpPr/>
          <p:nvPr/>
        </p:nvSpPr>
        <p:spPr>
          <a:xfrm>
            <a:off x="548640" y="4727448"/>
            <a:ext cx="914400" cy="566928"/>
          </a:xfrm>
          <a:prstGeom prst="rect">
            <a:avLst/>
          </a:prstGeom>
          <a:solidFill>
            <a:srgbClr val="FFFFFF"/>
          </a:solidFill>
          <a:ln w="6350">
            <a:solidFill>
              <a:srgbClr val="E2EAE8"/>
            </a:solidFill>
            <a:prstDash val="solid"/>
          </a:ln>
        </p:spPr>
      </p:sp>
      <p:sp>
        <p:nvSpPr>
          <p:cNvPr id="53" name="Text 51"/>
          <p:cNvSpPr txBox="1"/>
          <p:nvPr/>
        </p:nvSpPr>
        <p:spPr>
          <a:xfrm>
            <a:off x="612648" y="4745736"/>
            <a:ext cx="786384" cy="530352"/>
          </a:xfrm>
          <a:prstGeom prst="rect">
            <a:avLst/>
          </a:prstGeom>
          <a:noFill/>
          <a:ln/>
        </p:spPr>
        <p:txBody>
          <a:bodyPr wrap="square" rtlCol="0" anchor="ctr"/>
          <a:lstStyle/>
          <a:p>
            <a:pPr indent="0" marL="0">
              <a:lnSpc>
                <a:spcPct val="100000"/>
              </a:lnSpc>
              <a:buNone/>
            </a:pPr>
            <a:r>
              <a:rPr lang="en-US" sz="1050" b="1" dirty="0">
                <a:solidFill>
                  <a:srgbClr val="123C4A"/>
                </a:solidFill>
                <a:latin typeface="Calibri" pitchFamily="34" charset="0"/>
                <a:ea typeface="Calibri" pitchFamily="34" charset="-122"/>
                <a:cs typeface="Calibri" pitchFamily="34" charset="-120"/>
              </a:rPr>
              <a:t>fbs</a:t>
            </a:r>
            <a:endParaRPr lang="en-US" sz="1050" dirty="0"/>
          </a:p>
        </p:txBody>
      </p:sp>
      <p:sp>
        <p:nvSpPr>
          <p:cNvPr id="54" name="Shape 52"/>
          <p:cNvSpPr/>
          <p:nvPr/>
        </p:nvSpPr>
        <p:spPr>
          <a:xfrm>
            <a:off x="1463040" y="4727448"/>
            <a:ext cx="1920240" cy="566928"/>
          </a:xfrm>
          <a:prstGeom prst="rect">
            <a:avLst/>
          </a:prstGeom>
          <a:solidFill>
            <a:srgbClr val="FFFFFF"/>
          </a:solidFill>
          <a:ln w="6350">
            <a:solidFill>
              <a:srgbClr val="E2EAE8"/>
            </a:solidFill>
            <a:prstDash val="solid"/>
          </a:ln>
        </p:spPr>
      </p:sp>
      <p:sp>
        <p:nvSpPr>
          <p:cNvPr id="55" name="Text 53"/>
          <p:cNvSpPr txBox="1"/>
          <p:nvPr/>
        </p:nvSpPr>
        <p:spPr>
          <a:xfrm>
            <a:off x="1527048" y="4745736"/>
            <a:ext cx="1792224" cy="53035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Fasting Blood Sugar</a:t>
            </a:r>
            <a:endParaRPr lang="en-US" sz="1050" dirty="0"/>
          </a:p>
        </p:txBody>
      </p:sp>
      <p:sp>
        <p:nvSpPr>
          <p:cNvPr id="56" name="Shape 54"/>
          <p:cNvSpPr/>
          <p:nvPr/>
        </p:nvSpPr>
        <p:spPr>
          <a:xfrm>
            <a:off x="3383280" y="4727448"/>
            <a:ext cx="5212080" cy="566928"/>
          </a:xfrm>
          <a:prstGeom prst="rect">
            <a:avLst/>
          </a:prstGeom>
          <a:solidFill>
            <a:srgbClr val="FFFFFF"/>
          </a:solidFill>
          <a:ln w="6350">
            <a:solidFill>
              <a:srgbClr val="E2EAE8"/>
            </a:solidFill>
            <a:prstDash val="solid"/>
          </a:ln>
        </p:spPr>
      </p:sp>
      <p:sp>
        <p:nvSpPr>
          <p:cNvPr id="57" name="Text 55"/>
          <p:cNvSpPr txBox="1"/>
          <p:nvPr/>
        </p:nvSpPr>
        <p:spPr>
          <a:xfrm>
            <a:off x="3447288" y="4745736"/>
            <a:ext cx="5084064" cy="53035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1 if fasting blood sugar &gt; 120 mg/dl, else 0</a:t>
            </a:r>
            <a:endParaRPr lang="en-US" sz="1050" dirty="0"/>
          </a:p>
        </p:txBody>
      </p:sp>
      <p:sp>
        <p:nvSpPr>
          <p:cNvPr id="58" name="Shape 56"/>
          <p:cNvSpPr/>
          <p:nvPr/>
        </p:nvSpPr>
        <p:spPr>
          <a:xfrm>
            <a:off x="8595360" y="4727448"/>
            <a:ext cx="3017520" cy="566928"/>
          </a:xfrm>
          <a:prstGeom prst="rect">
            <a:avLst/>
          </a:prstGeom>
          <a:solidFill>
            <a:srgbClr val="FFFFFF"/>
          </a:solidFill>
          <a:ln w="6350">
            <a:solidFill>
              <a:srgbClr val="E2EAE8"/>
            </a:solidFill>
            <a:prstDash val="solid"/>
          </a:ln>
        </p:spPr>
      </p:sp>
      <p:sp>
        <p:nvSpPr>
          <p:cNvPr id="59" name="Text 57"/>
          <p:cNvSpPr txBox="1"/>
          <p:nvPr/>
        </p:nvSpPr>
        <p:spPr>
          <a:xfrm>
            <a:off x="8659368" y="4745736"/>
            <a:ext cx="2889504" cy="53035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0 (≤120 mg/dl) is the healthy flag</a:t>
            </a:r>
            <a:endParaRPr lang="en-US" sz="1050" dirty="0"/>
          </a:p>
        </p:txBody>
      </p:sp>
      <p:sp>
        <p:nvSpPr>
          <p:cNvPr id="60" name="Shape 58"/>
          <p:cNvSpPr/>
          <p:nvPr/>
        </p:nvSpPr>
        <p:spPr>
          <a:xfrm>
            <a:off x="548640" y="5294376"/>
            <a:ext cx="914400" cy="566928"/>
          </a:xfrm>
          <a:prstGeom prst="rect">
            <a:avLst/>
          </a:prstGeom>
          <a:solidFill>
            <a:srgbClr val="F7FAF9"/>
          </a:solidFill>
          <a:ln w="6350">
            <a:solidFill>
              <a:srgbClr val="E2EAE8"/>
            </a:solidFill>
            <a:prstDash val="solid"/>
          </a:ln>
        </p:spPr>
      </p:sp>
      <p:sp>
        <p:nvSpPr>
          <p:cNvPr id="61" name="Text 59"/>
          <p:cNvSpPr txBox="1"/>
          <p:nvPr/>
        </p:nvSpPr>
        <p:spPr>
          <a:xfrm>
            <a:off x="612648" y="5312664"/>
            <a:ext cx="786384" cy="530352"/>
          </a:xfrm>
          <a:prstGeom prst="rect">
            <a:avLst/>
          </a:prstGeom>
          <a:noFill/>
          <a:ln/>
        </p:spPr>
        <p:txBody>
          <a:bodyPr wrap="square" rtlCol="0" anchor="ctr"/>
          <a:lstStyle/>
          <a:p>
            <a:pPr indent="0" marL="0">
              <a:lnSpc>
                <a:spcPct val="100000"/>
              </a:lnSpc>
              <a:buNone/>
            </a:pPr>
            <a:r>
              <a:rPr lang="en-US" sz="1050" b="1" dirty="0">
                <a:solidFill>
                  <a:srgbClr val="123C4A"/>
                </a:solidFill>
                <a:latin typeface="Calibri" pitchFamily="34" charset="0"/>
                <a:ea typeface="Calibri" pitchFamily="34" charset="-122"/>
                <a:cs typeface="Calibri" pitchFamily="34" charset="-120"/>
              </a:rPr>
              <a:t>restecg</a:t>
            </a:r>
            <a:endParaRPr lang="en-US" sz="1050" dirty="0"/>
          </a:p>
        </p:txBody>
      </p:sp>
      <p:sp>
        <p:nvSpPr>
          <p:cNvPr id="62" name="Shape 60"/>
          <p:cNvSpPr/>
          <p:nvPr/>
        </p:nvSpPr>
        <p:spPr>
          <a:xfrm>
            <a:off x="1463040" y="5294376"/>
            <a:ext cx="1920240" cy="566928"/>
          </a:xfrm>
          <a:prstGeom prst="rect">
            <a:avLst/>
          </a:prstGeom>
          <a:solidFill>
            <a:srgbClr val="F7FAF9"/>
          </a:solidFill>
          <a:ln w="6350">
            <a:solidFill>
              <a:srgbClr val="E2EAE8"/>
            </a:solidFill>
            <a:prstDash val="solid"/>
          </a:ln>
        </p:spPr>
      </p:sp>
      <p:sp>
        <p:nvSpPr>
          <p:cNvPr id="63" name="Text 61"/>
          <p:cNvSpPr txBox="1"/>
          <p:nvPr/>
        </p:nvSpPr>
        <p:spPr>
          <a:xfrm>
            <a:off x="1527048" y="5312664"/>
            <a:ext cx="1792224" cy="53035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Resting ECG Result</a:t>
            </a:r>
            <a:endParaRPr lang="en-US" sz="1050" dirty="0"/>
          </a:p>
        </p:txBody>
      </p:sp>
      <p:sp>
        <p:nvSpPr>
          <p:cNvPr id="64" name="Shape 62"/>
          <p:cNvSpPr/>
          <p:nvPr/>
        </p:nvSpPr>
        <p:spPr>
          <a:xfrm>
            <a:off x="3383280" y="5294376"/>
            <a:ext cx="5212080" cy="566928"/>
          </a:xfrm>
          <a:prstGeom prst="rect">
            <a:avLst/>
          </a:prstGeom>
          <a:solidFill>
            <a:srgbClr val="F7FAF9"/>
          </a:solidFill>
          <a:ln w="6350">
            <a:solidFill>
              <a:srgbClr val="E2EAE8"/>
            </a:solidFill>
            <a:prstDash val="solid"/>
          </a:ln>
        </p:spPr>
      </p:sp>
      <p:sp>
        <p:nvSpPr>
          <p:cNvPr id="65" name="Text 63"/>
          <p:cNvSpPr txBox="1"/>
          <p:nvPr/>
        </p:nvSpPr>
        <p:spPr>
          <a:xfrm>
            <a:off x="3447288" y="5312664"/>
            <a:ext cx="5084064" cy="53035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Category of heart electrical pattern at rest (0–2)</a:t>
            </a:r>
            <a:endParaRPr lang="en-US" sz="1050" dirty="0"/>
          </a:p>
        </p:txBody>
      </p:sp>
      <p:sp>
        <p:nvSpPr>
          <p:cNvPr id="66" name="Shape 64"/>
          <p:cNvSpPr/>
          <p:nvPr/>
        </p:nvSpPr>
        <p:spPr>
          <a:xfrm>
            <a:off x="8595360" y="5294376"/>
            <a:ext cx="3017520" cy="566928"/>
          </a:xfrm>
          <a:prstGeom prst="rect">
            <a:avLst/>
          </a:prstGeom>
          <a:solidFill>
            <a:srgbClr val="F7FAF9"/>
          </a:solidFill>
          <a:ln w="6350">
            <a:solidFill>
              <a:srgbClr val="E2EAE8"/>
            </a:solidFill>
            <a:prstDash val="solid"/>
          </a:ln>
        </p:spPr>
      </p:sp>
      <p:sp>
        <p:nvSpPr>
          <p:cNvPr id="67" name="Text 65"/>
          <p:cNvSpPr txBox="1"/>
          <p:nvPr/>
        </p:nvSpPr>
        <p:spPr>
          <a:xfrm>
            <a:off x="8659368" y="5312664"/>
            <a:ext cx="2889504" cy="53035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Categorical — codes vary by source; see note</a:t>
            </a:r>
            <a:endParaRPr lang="en-US" sz="1050" dirty="0"/>
          </a:p>
        </p:txBody>
      </p:sp>
      <p:sp>
        <p:nvSpPr>
          <p:cNvPr id="68" name="Text 66"/>
          <p:cNvSpPr txBox="1"/>
          <p:nvPr/>
        </p:nvSpPr>
        <p:spPr>
          <a:xfrm>
            <a:off x="548640" y="5998464"/>
            <a:ext cx="11064240" cy="548640"/>
          </a:xfrm>
          <a:prstGeom prst="rect">
            <a:avLst/>
          </a:prstGeom>
          <a:noFill/>
          <a:ln/>
        </p:spPr>
        <p:txBody>
          <a:bodyPr wrap="square" rtlCol="0" anchor="ctr"/>
          <a:lstStyle/>
          <a:p>
            <a:pPr indent="0" marL="0">
              <a:lnSpc>
                <a:spcPct val="115000"/>
              </a:lnSpc>
              <a:buNone/>
            </a:pPr>
            <a:r>
              <a:rPr lang="en-US" sz="1000" i="1" dirty="0">
                <a:solidFill>
                  <a:srgbClr val="5B7A78"/>
                </a:solidFill>
                <a:latin typeface="Calibri" pitchFamily="34" charset="0"/>
                <a:ea typeface="Calibri" pitchFamily="34" charset="-122"/>
                <a:cs typeface="Calibri" pitchFamily="34" charset="-120"/>
              </a:rPr>
              <a:t>Note: cp and restecg numeric codes are inconsistently documented across public mirrors of this dataset (flagged in the app and report) — modelled as unordered categories, with no single “good” code assumed.</a:t>
            </a:r>
            <a:endParaRPr lang="en-US" sz="1000" dirty="0"/>
          </a:p>
        </p:txBody>
      </p:sp>
      <p:sp>
        <p:nvSpPr>
          <p:cNvPr id="69" name="Text 67"/>
          <p:cNvSpPr/>
          <p:nvPr/>
        </p:nvSpPr>
        <p:spPr>
          <a:xfrm>
            <a:off x="457200" y="6492240"/>
            <a:ext cx="5486400" cy="274320"/>
          </a:xfrm>
          <a:prstGeom prst="rect">
            <a:avLst/>
          </a:prstGeom>
          <a:noFill/>
          <a:ln/>
        </p:spPr>
        <p:txBody>
          <a:bodyPr wrap="square" rtlCol="0" anchor="ctr"/>
          <a:lstStyle/>
          <a:p>
            <a:pPr indent="0" marL="0">
              <a:buNone/>
            </a:pPr>
            <a:r>
              <a:rPr lang="en-US" sz="900" dirty="0">
                <a:solidFill>
                  <a:srgbClr val="5B7A78"/>
                </a:solidFill>
                <a:latin typeface="Calibri" pitchFamily="34" charset="0"/>
                <a:ea typeface="Calibri" pitchFamily="34" charset="-122"/>
                <a:cs typeface="Calibri" pitchFamily="34" charset="-120"/>
              </a:rPr>
              <a:t>CardioGuard — SMLC Mini Project</a:t>
            </a:r>
            <a:endParaRPr lang="en-US" sz="900" dirty="0"/>
          </a:p>
        </p:txBody>
      </p:sp>
      <p:sp>
        <p:nvSpPr>
          <p:cNvPr id="70" name="Text 68"/>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7A7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515600" cy="548640"/>
          </a:xfrm>
          <a:prstGeom prst="rect">
            <a:avLst/>
          </a:prstGeom>
          <a:noFill/>
          <a:ln/>
        </p:spPr>
        <p:txBody>
          <a:bodyPr wrap="square" rtlCol="0" anchor="ctr"/>
          <a:lstStyle/>
          <a:p>
            <a:pPr indent="0" marL="0">
              <a:buNone/>
            </a:pPr>
            <a:r>
              <a:rPr lang="en-US" sz="2700" b="1" dirty="0">
                <a:solidFill>
                  <a:srgbClr val="123C4A"/>
                </a:solidFill>
                <a:latin typeface="Cambria" pitchFamily="34" charset="0"/>
                <a:ea typeface="Cambria" pitchFamily="34" charset="-122"/>
                <a:cs typeface="Cambria" pitchFamily="34" charset="-120"/>
              </a:rPr>
              <a:t>Clinical Feature Reference (2 of 2)</a:t>
            </a:r>
            <a:endParaRPr lang="en-US" sz="2700" dirty="0"/>
          </a:p>
        </p:txBody>
      </p:sp>
      <p:sp>
        <p:nvSpPr>
          <p:cNvPr id="3" name="Text 1"/>
          <p:cNvSpPr txBox="1"/>
          <p:nvPr/>
        </p:nvSpPr>
        <p:spPr>
          <a:xfrm>
            <a:off x="548640" y="932688"/>
            <a:ext cx="10972800" cy="365760"/>
          </a:xfrm>
          <a:prstGeom prst="rect">
            <a:avLst/>
          </a:prstGeom>
          <a:noFill/>
          <a:ln/>
        </p:spPr>
        <p:txBody>
          <a:bodyPr wrap="square" rtlCol="0" anchor="ctr"/>
          <a:lstStyle/>
          <a:p>
            <a:pPr indent="0" marL="0">
              <a:buNone/>
            </a:pPr>
            <a:r>
              <a:rPr lang="en-US" sz="1250" dirty="0">
                <a:solidFill>
                  <a:srgbClr val="5B7A78"/>
                </a:solidFill>
                <a:latin typeface="Calibri" pitchFamily="34" charset="0"/>
                <a:ea typeface="Calibri" pitchFamily="34" charset="-122"/>
                <a:cs typeface="Calibri" pitchFamily="34" charset="-120"/>
              </a:rPr>
              <a:t>Continued: the six remaining exercise-test and vessel-imaging features</a:t>
            </a:r>
            <a:endParaRPr lang="en-US" sz="1250" dirty="0"/>
          </a:p>
        </p:txBody>
      </p:sp>
      <p:sp>
        <p:nvSpPr>
          <p:cNvPr id="4" name="Shape 2"/>
          <p:cNvSpPr/>
          <p:nvPr/>
        </p:nvSpPr>
        <p:spPr>
          <a:xfrm>
            <a:off x="548640" y="1508760"/>
            <a:ext cx="914400" cy="384048"/>
          </a:xfrm>
          <a:prstGeom prst="rect">
            <a:avLst/>
          </a:prstGeom>
          <a:solidFill>
            <a:srgbClr val="123C4A"/>
          </a:solidFill>
          <a:ln w="9525">
            <a:solidFill>
              <a:srgbClr val="FFFFFF"/>
            </a:solidFill>
            <a:prstDash val="solid"/>
          </a:ln>
        </p:spPr>
      </p:sp>
      <p:sp>
        <p:nvSpPr>
          <p:cNvPr id="5" name="Text 3"/>
          <p:cNvSpPr txBox="1"/>
          <p:nvPr/>
        </p:nvSpPr>
        <p:spPr>
          <a:xfrm>
            <a:off x="594360" y="1508760"/>
            <a:ext cx="8229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Code</a:t>
            </a:r>
            <a:endParaRPr lang="en-US" sz="1150" dirty="0"/>
          </a:p>
        </p:txBody>
      </p:sp>
      <p:sp>
        <p:nvSpPr>
          <p:cNvPr id="6" name="Shape 4"/>
          <p:cNvSpPr/>
          <p:nvPr/>
        </p:nvSpPr>
        <p:spPr>
          <a:xfrm>
            <a:off x="1463040" y="1508760"/>
            <a:ext cx="1920240" cy="384048"/>
          </a:xfrm>
          <a:prstGeom prst="rect">
            <a:avLst/>
          </a:prstGeom>
          <a:solidFill>
            <a:srgbClr val="123C4A"/>
          </a:solidFill>
          <a:ln w="9525">
            <a:solidFill>
              <a:srgbClr val="FFFFFF"/>
            </a:solidFill>
            <a:prstDash val="solid"/>
          </a:ln>
        </p:spPr>
      </p:sp>
      <p:sp>
        <p:nvSpPr>
          <p:cNvPr id="7" name="Text 5"/>
          <p:cNvSpPr txBox="1"/>
          <p:nvPr/>
        </p:nvSpPr>
        <p:spPr>
          <a:xfrm>
            <a:off x="1508760" y="1508760"/>
            <a:ext cx="182880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Full Name</a:t>
            </a:r>
            <a:endParaRPr lang="en-US" sz="1150" dirty="0"/>
          </a:p>
        </p:txBody>
      </p:sp>
      <p:sp>
        <p:nvSpPr>
          <p:cNvPr id="8" name="Shape 6"/>
          <p:cNvSpPr/>
          <p:nvPr/>
        </p:nvSpPr>
        <p:spPr>
          <a:xfrm>
            <a:off x="3383280" y="1508760"/>
            <a:ext cx="5394960" cy="384048"/>
          </a:xfrm>
          <a:prstGeom prst="rect">
            <a:avLst/>
          </a:prstGeom>
          <a:solidFill>
            <a:srgbClr val="123C4A"/>
          </a:solidFill>
          <a:ln w="9525">
            <a:solidFill>
              <a:srgbClr val="FFFFFF"/>
            </a:solidFill>
            <a:prstDash val="solid"/>
          </a:ln>
        </p:spPr>
      </p:sp>
      <p:sp>
        <p:nvSpPr>
          <p:cNvPr id="9" name="Text 7"/>
          <p:cNvSpPr txBox="1"/>
          <p:nvPr/>
        </p:nvSpPr>
        <p:spPr>
          <a:xfrm>
            <a:off x="3429000" y="1508760"/>
            <a:ext cx="530352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What It Means</a:t>
            </a:r>
            <a:endParaRPr lang="en-US" sz="1150" dirty="0"/>
          </a:p>
        </p:txBody>
      </p:sp>
      <p:sp>
        <p:nvSpPr>
          <p:cNvPr id="10" name="Shape 8"/>
          <p:cNvSpPr/>
          <p:nvPr/>
        </p:nvSpPr>
        <p:spPr>
          <a:xfrm>
            <a:off x="8778240" y="1508760"/>
            <a:ext cx="2834640" cy="384048"/>
          </a:xfrm>
          <a:prstGeom prst="rect">
            <a:avLst/>
          </a:prstGeom>
          <a:solidFill>
            <a:srgbClr val="123C4A"/>
          </a:solidFill>
          <a:ln w="9525">
            <a:solidFill>
              <a:srgbClr val="FFFFFF"/>
            </a:solidFill>
            <a:prstDash val="solid"/>
          </a:ln>
        </p:spPr>
      </p:sp>
      <p:sp>
        <p:nvSpPr>
          <p:cNvPr id="11" name="Text 9"/>
          <p:cNvSpPr txBox="1"/>
          <p:nvPr/>
        </p:nvSpPr>
        <p:spPr>
          <a:xfrm>
            <a:off x="8823960" y="1508760"/>
            <a:ext cx="274320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Typical Healthy Range</a:t>
            </a:r>
            <a:endParaRPr lang="en-US" sz="1150" dirty="0"/>
          </a:p>
        </p:txBody>
      </p:sp>
      <p:sp>
        <p:nvSpPr>
          <p:cNvPr id="12" name="Shape 10"/>
          <p:cNvSpPr/>
          <p:nvPr/>
        </p:nvSpPr>
        <p:spPr>
          <a:xfrm>
            <a:off x="548640" y="1892808"/>
            <a:ext cx="914400" cy="658368"/>
          </a:xfrm>
          <a:prstGeom prst="rect">
            <a:avLst/>
          </a:prstGeom>
          <a:solidFill>
            <a:srgbClr val="F7FAF9"/>
          </a:solidFill>
          <a:ln w="6350">
            <a:solidFill>
              <a:srgbClr val="E2EAE8"/>
            </a:solidFill>
            <a:prstDash val="solid"/>
          </a:ln>
        </p:spPr>
      </p:sp>
      <p:sp>
        <p:nvSpPr>
          <p:cNvPr id="13" name="Text 11"/>
          <p:cNvSpPr txBox="1"/>
          <p:nvPr/>
        </p:nvSpPr>
        <p:spPr>
          <a:xfrm>
            <a:off x="612648" y="1911096"/>
            <a:ext cx="786384" cy="621792"/>
          </a:xfrm>
          <a:prstGeom prst="rect">
            <a:avLst/>
          </a:prstGeom>
          <a:noFill/>
          <a:ln/>
        </p:spPr>
        <p:txBody>
          <a:bodyPr wrap="square" rtlCol="0" anchor="ctr"/>
          <a:lstStyle/>
          <a:p>
            <a:pPr indent="0" marL="0">
              <a:lnSpc>
                <a:spcPct val="100000"/>
              </a:lnSpc>
              <a:buNone/>
            </a:pPr>
            <a:r>
              <a:rPr lang="en-US" sz="1050" b="1" dirty="0">
                <a:solidFill>
                  <a:srgbClr val="123C4A"/>
                </a:solidFill>
                <a:latin typeface="Calibri" pitchFamily="34" charset="0"/>
                <a:ea typeface="Calibri" pitchFamily="34" charset="-122"/>
                <a:cs typeface="Calibri" pitchFamily="34" charset="-120"/>
              </a:rPr>
              <a:t>thalach</a:t>
            </a:r>
            <a:endParaRPr lang="en-US" sz="1050" dirty="0"/>
          </a:p>
        </p:txBody>
      </p:sp>
      <p:sp>
        <p:nvSpPr>
          <p:cNvPr id="14" name="Shape 12"/>
          <p:cNvSpPr/>
          <p:nvPr/>
        </p:nvSpPr>
        <p:spPr>
          <a:xfrm>
            <a:off x="1463040" y="1892808"/>
            <a:ext cx="1920240" cy="658368"/>
          </a:xfrm>
          <a:prstGeom prst="rect">
            <a:avLst/>
          </a:prstGeom>
          <a:solidFill>
            <a:srgbClr val="F7FAF9"/>
          </a:solidFill>
          <a:ln w="6350">
            <a:solidFill>
              <a:srgbClr val="E2EAE8"/>
            </a:solidFill>
            <a:prstDash val="solid"/>
          </a:ln>
        </p:spPr>
      </p:sp>
      <p:sp>
        <p:nvSpPr>
          <p:cNvPr id="15" name="Text 13"/>
          <p:cNvSpPr txBox="1"/>
          <p:nvPr/>
        </p:nvSpPr>
        <p:spPr>
          <a:xfrm>
            <a:off x="1527048" y="1911096"/>
            <a:ext cx="1792224" cy="62179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Max Heart Rate Achieved</a:t>
            </a:r>
            <a:endParaRPr lang="en-US" sz="1050" dirty="0"/>
          </a:p>
        </p:txBody>
      </p:sp>
      <p:sp>
        <p:nvSpPr>
          <p:cNvPr id="16" name="Shape 14"/>
          <p:cNvSpPr/>
          <p:nvPr/>
        </p:nvSpPr>
        <p:spPr>
          <a:xfrm>
            <a:off x="3383280" y="1892808"/>
            <a:ext cx="5394960" cy="658368"/>
          </a:xfrm>
          <a:prstGeom prst="rect">
            <a:avLst/>
          </a:prstGeom>
          <a:solidFill>
            <a:srgbClr val="F7FAF9"/>
          </a:solidFill>
          <a:ln w="6350">
            <a:solidFill>
              <a:srgbClr val="E2EAE8"/>
            </a:solidFill>
            <a:prstDash val="solid"/>
          </a:ln>
        </p:spPr>
      </p:sp>
      <p:sp>
        <p:nvSpPr>
          <p:cNvPr id="17" name="Text 15"/>
          <p:cNvSpPr txBox="1"/>
          <p:nvPr/>
        </p:nvSpPr>
        <p:spPr>
          <a:xfrm>
            <a:off x="3447288" y="1911096"/>
            <a:ext cx="5266944" cy="62179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Highest heart rate reached during an exercise stress test</a:t>
            </a:r>
            <a:endParaRPr lang="en-US" sz="1050" dirty="0"/>
          </a:p>
        </p:txBody>
      </p:sp>
      <p:sp>
        <p:nvSpPr>
          <p:cNvPr id="18" name="Shape 16"/>
          <p:cNvSpPr/>
          <p:nvPr/>
        </p:nvSpPr>
        <p:spPr>
          <a:xfrm>
            <a:off x="8778240" y="1892808"/>
            <a:ext cx="2834640" cy="658368"/>
          </a:xfrm>
          <a:prstGeom prst="rect">
            <a:avLst/>
          </a:prstGeom>
          <a:solidFill>
            <a:srgbClr val="F7FAF9"/>
          </a:solidFill>
          <a:ln w="6350">
            <a:solidFill>
              <a:srgbClr val="E2EAE8"/>
            </a:solidFill>
            <a:prstDash val="solid"/>
          </a:ln>
        </p:spPr>
      </p:sp>
      <p:sp>
        <p:nvSpPr>
          <p:cNvPr id="19" name="Text 17"/>
          <p:cNvSpPr txBox="1"/>
          <p:nvPr/>
        </p:nvSpPr>
        <p:spPr>
          <a:xfrm>
            <a:off x="8842248" y="1911096"/>
            <a:ext cx="2706624" cy="62179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Roughly ≈ 220 − age (age-predicted max); higher achieved = better fitness</a:t>
            </a:r>
            <a:endParaRPr lang="en-US" sz="1050" dirty="0"/>
          </a:p>
        </p:txBody>
      </p:sp>
      <p:sp>
        <p:nvSpPr>
          <p:cNvPr id="20" name="Shape 18"/>
          <p:cNvSpPr/>
          <p:nvPr/>
        </p:nvSpPr>
        <p:spPr>
          <a:xfrm>
            <a:off x="548640" y="2551176"/>
            <a:ext cx="914400" cy="658368"/>
          </a:xfrm>
          <a:prstGeom prst="rect">
            <a:avLst/>
          </a:prstGeom>
          <a:solidFill>
            <a:srgbClr val="FFFFFF"/>
          </a:solidFill>
          <a:ln w="6350">
            <a:solidFill>
              <a:srgbClr val="E2EAE8"/>
            </a:solidFill>
            <a:prstDash val="solid"/>
          </a:ln>
        </p:spPr>
      </p:sp>
      <p:sp>
        <p:nvSpPr>
          <p:cNvPr id="21" name="Text 19"/>
          <p:cNvSpPr txBox="1"/>
          <p:nvPr/>
        </p:nvSpPr>
        <p:spPr>
          <a:xfrm>
            <a:off x="612648" y="2569464"/>
            <a:ext cx="786384" cy="621792"/>
          </a:xfrm>
          <a:prstGeom prst="rect">
            <a:avLst/>
          </a:prstGeom>
          <a:noFill/>
          <a:ln/>
        </p:spPr>
        <p:txBody>
          <a:bodyPr wrap="square" rtlCol="0" anchor="ctr"/>
          <a:lstStyle/>
          <a:p>
            <a:pPr indent="0" marL="0">
              <a:lnSpc>
                <a:spcPct val="100000"/>
              </a:lnSpc>
              <a:buNone/>
            </a:pPr>
            <a:r>
              <a:rPr lang="en-US" sz="1050" b="1" dirty="0">
                <a:solidFill>
                  <a:srgbClr val="123C4A"/>
                </a:solidFill>
                <a:latin typeface="Calibri" pitchFamily="34" charset="0"/>
                <a:ea typeface="Calibri" pitchFamily="34" charset="-122"/>
                <a:cs typeface="Calibri" pitchFamily="34" charset="-120"/>
              </a:rPr>
              <a:t>exang</a:t>
            </a:r>
            <a:endParaRPr lang="en-US" sz="1050" dirty="0"/>
          </a:p>
        </p:txBody>
      </p:sp>
      <p:sp>
        <p:nvSpPr>
          <p:cNvPr id="22" name="Shape 20"/>
          <p:cNvSpPr/>
          <p:nvPr/>
        </p:nvSpPr>
        <p:spPr>
          <a:xfrm>
            <a:off x="1463040" y="2551176"/>
            <a:ext cx="1920240" cy="658368"/>
          </a:xfrm>
          <a:prstGeom prst="rect">
            <a:avLst/>
          </a:prstGeom>
          <a:solidFill>
            <a:srgbClr val="FFFFFF"/>
          </a:solidFill>
          <a:ln w="6350">
            <a:solidFill>
              <a:srgbClr val="E2EAE8"/>
            </a:solidFill>
            <a:prstDash val="solid"/>
          </a:ln>
        </p:spPr>
      </p:sp>
      <p:sp>
        <p:nvSpPr>
          <p:cNvPr id="23" name="Text 21"/>
          <p:cNvSpPr txBox="1"/>
          <p:nvPr/>
        </p:nvSpPr>
        <p:spPr>
          <a:xfrm>
            <a:off x="1527048" y="2569464"/>
            <a:ext cx="1792224" cy="62179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Exercise-Induced Angina</a:t>
            </a:r>
            <a:endParaRPr lang="en-US" sz="1050" dirty="0"/>
          </a:p>
        </p:txBody>
      </p:sp>
      <p:sp>
        <p:nvSpPr>
          <p:cNvPr id="24" name="Shape 22"/>
          <p:cNvSpPr/>
          <p:nvPr/>
        </p:nvSpPr>
        <p:spPr>
          <a:xfrm>
            <a:off x="3383280" y="2551176"/>
            <a:ext cx="5394960" cy="658368"/>
          </a:xfrm>
          <a:prstGeom prst="rect">
            <a:avLst/>
          </a:prstGeom>
          <a:solidFill>
            <a:srgbClr val="FFFFFF"/>
          </a:solidFill>
          <a:ln w="6350">
            <a:solidFill>
              <a:srgbClr val="E2EAE8"/>
            </a:solidFill>
            <a:prstDash val="solid"/>
          </a:ln>
        </p:spPr>
      </p:sp>
      <p:sp>
        <p:nvSpPr>
          <p:cNvPr id="25" name="Text 23"/>
          <p:cNvSpPr txBox="1"/>
          <p:nvPr/>
        </p:nvSpPr>
        <p:spPr>
          <a:xfrm>
            <a:off x="3447288" y="2569464"/>
            <a:ext cx="5266944" cy="62179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1 if exercise triggered chest pain, else 0</a:t>
            </a:r>
            <a:endParaRPr lang="en-US" sz="1050" dirty="0"/>
          </a:p>
        </p:txBody>
      </p:sp>
      <p:sp>
        <p:nvSpPr>
          <p:cNvPr id="26" name="Shape 24"/>
          <p:cNvSpPr/>
          <p:nvPr/>
        </p:nvSpPr>
        <p:spPr>
          <a:xfrm>
            <a:off x="8778240" y="2551176"/>
            <a:ext cx="2834640" cy="658368"/>
          </a:xfrm>
          <a:prstGeom prst="rect">
            <a:avLst/>
          </a:prstGeom>
          <a:solidFill>
            <a:srgbClr val="FFFFFF"/>
          </a:solidFill>
          <a:ln w="6350">
            <a:solidFill>
              <a:srgbClr val="E2EAE8"/>
            </a:solidFill>
            <a:prstDash val="solid"/>
          </a:ln>
        </p:spPr>
      </p:sp>
      <p:sp>
        <p:nvSpPr>
          <p:cNvPr id="27" name="Text 25"/>
          <p:cNvSpPr txBox="1"/>
          <p:nvPr/>
        </p:nvSpPr>
        <p:spPr>
          <a:xfrm>
            <a:off x="8842248" y="2569464"/>
            <a:ext cx="2706624" cy="62179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0 (No pain during exercise) is the healthy flag</a:t>
            </a:r>
            <a:endParaRPr lang="en-US" sz="1050" dirty="0"/>
          </a:p>
        </p:txBody>
      </p:sp>
      <p:sp>
        <p:nvSpPr>
          <p:cNvPr id="28" name="Shape 26"/>
          <p:cNvSpPr/>
          <p:nvPr/>
        </p:nvSpPr>
        <p:spPr>
          <a:xfrm>
            <a:off x="548640" y="3209544"/>
            <a:ext cx="914400" cy="658368"/>
          </a:xfrm>
          <a:prstGeom prst="rect">
            <a:avLst/>
          </a:prstGeom>
          <a:solidFill>
            <a:srgbClr val="F7FAF9"/>
          </a:solidFill>
          <a:ln w="6350">
            <a:solidFill>
              <a:srgbClr val="E2EAE8"/>
            </a:solidFill>
            <a:prstDash val="solid"/>
          </a:ln>
        </p:spPr>
      </p:sp>
      <p:sp>
        <p:nvSpPr>
          <p:cNvPr id="29" name="Text 27"/>
          <p:cNvSpPr txBox="1"/>
          <p:nvPr/>
        </p:nvSpPr>
        <p:spPr>
          <a:xfrm>
            <a:off x="612648" y="3227832"/>
            <a:ext cx="786384" cy="621792"/>
          </a:xfrm>
          <a:prstGeom prst="rect">
            <a:avLst/>
          </a:prstGeom>
          <a:noFill/>
          <a:ln/>
        </p:spPr>
        <p:txBody>
          <a:bodyPr wrap="square" rtlCol="0" anchor="ctr"/>
          <a:lstStyle/>
          <a:p>
            <a:pPr indent="0" marL="0">
              <a:lnSpc>
                <a:spcPct val="100000"/>
              </a:lnSpc>
              <a:buNone/>
            </a:pPr>
            <a:r>
              <a:rPr lang="en-US" sz="1050" b="1" dirty="0">
                <a:solidFill>
                  <a:srgbClr val="123C4A"/>
                </a:solidFill>
                <a:latin typeface="Calibri" pitchFamily="34" charset="0"/>
                <a:ea typeface="Calibri" pitchFamily="34" charset="-122"/>
                <a:cs typeface="Calibri" pitchFamily="34" charset="-120"/>
              </a:rPr>
              <a:t>oldpeak</a:t>
            </a:r>
            <a:endParaRPr lang="en-US" sz="1050" dirty="0"/>
          </a:p>
        </p:txBody>
      </p:sp>
      <p:sp>
        <p:nvSpPr>
          <p:cNvPr id="30" name="Shape 28"/>
          <p:cNvSpPr/>
          <p:nvPr/>
        </p:nvSpPr>
        <p:spPr>
          <a:xfrm>
            <a:off x="1463040" y="3209544"/>
            <a:ext cx="1920240" cy="658368"/>
          </a:xfrm>
          <a:prstGeom prst="rect">
            <a:avLst/>
          </a:prstGeom>
          <a:solidFill>
            <a:srgbClr val="F7FAF9"/>
          </a:solidFill>
          <a:ln w="6350">
            <a:solidFill>
              <a:srgbClr val="E2EAE8"/>
            </a:solidFill>
            <a:prstDash val="solid"/>
          </a:ln>
        </p:spPr>
      </p:sp>
      <p:sp>
        <p:nvSpPr>
          <p:cNvPr id="31" name="Text 29"/>
          <p:cNvSpPr txBox="1"/>
          <p:nvPr/>
        </p:nvSpPr>
        <p:spPr>
          <a:xfrm>
            <a:off x="1527048" y="3227832"/>
            <a:ext cx="1792224" cy="62179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ST Depression</a:t>
            </a:r>
            <a:endParaRPr lang="en-US" sz="1050" dirty="0"/>
          </a:p>
        </p:txBody>
      </p:sp>
      <p:sp>
        <p:nvSpPr>
          <p:cNvPr id="32" name="Shape 30"/>
          <p:cNvSpPr/>
          <p:nvPr/>
        </p:nvSpPr>
        <p:spPr>
          <a:xfrm>
            <a:off x="3383280" y="3209544"/>
            <a:ext cx="5394960" cy="658368"/>
          </a:xfrm>
          <a:prstGeom prst="rect">
            <a:avLst/>
          </a:prstGeom>
          <a:solidFill>
            <a:srgbClr val="F7FAF9"/>
          </a:solidFill>
          <a:ln w="6350">
            <a:solidFill>
              <a:srgbClr val="E2EAE8"/>
            </a:solidFill>
            <a:prstDash val="solid"/>
          </a:ln>
        </p:spPr>
      </p:sp>
      <p:sp>
        <p:nvSpPr>
          <p:cNvPr id="33" name="Text 31"/>
          <p:cNvSpPr txBox="1"/>
          <p:nvPr/>
        </p:nvSpPr>
        <p:spPr>
          <a:xfrm>
            <a:off x="3447288" y="3227832"/>
            <a:ext cx="5266944" cy="62179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How much the heart's ST segment dips during exercise vs. rest (an ECG measure)</a:t>
            </a:r>
            <a:endParaRPr lang="en-US" sz="1050" dirty="0"/>
          </a:p>
        </p:txBody>
      </p:sp>
      <p:sp>
        <p:nvSpPr>
          <p:cNvPr id="34" name="Shape 32"/>
          <p:cNvSpPr/>
          <p:nvPr/>
        </p:nvSpPr>
        <p:spPr>
          <a:xfrm>
            <a:off x="8778240" y="3209544"/>
            <a:ext cx="2834640" cy="658368"/>
          </a:xfrm>
          <a:prstGeom prst="rect">
            <a:avLst/>
          </a:prstGeom>
          <a:solidFill>
            <a:srgbClr val="F7FAF9"/>
          </a:solidFill>
          <a:ln w="6350">
            <a:solidFill>
              <a:srgbClr val="E2EAE8"/>
            </a:solidFill>
            <a:prstDash val="solid"/>
          </a:ln>
        </p:spPr>
      </p:sp>
      <p:sp>
        <p:nvSpPr>
          <p:cNvPr id="35" name="Text 33"/>
          <p:cNvSpPr txBox="1"/>
          <p:nvPr/>
        </p:nvSpPr>
        <p:spPr>
          <a:xfrm>
            <a:off x="8842248" y="3227832"/>
            <a:ext cx="2706624" cy="62179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Close to 0 is desirable; larger dips are more concerning</a:t>
            </a:r>
            <a:endParaRPr lang="en-US" sz="1050" dirty="0"/>
          </a:p>
        </p:txBody>
      </p:sp>
      <p:sp>
        <p:nvSpPr>
          <p:cNvPr id="36" name="Shape 34"/>
          <p:cNvSpPr/>
          <p:nvPr/>
        </p:nvSpPr>
        <p:spPr>
          <a:xfrm>
            <a:off x="548640" y="3867912"/>
            <a:ext cx="914400" cy="658368"/>
          </a:xfrm>
          <a:prstGeom prst="rect">
            <a:avLst/>
          </a:prstGeom>
          <a:solidFill>
            <a:srgbClr val="FFFFFF"/>
          </a:solidFill>
          <a:ln w="6350">
            <a:solidFill>
              <a:srgbClr val="E2EAE8"/>
            </a:solidFill>
            <a:prstDash val="solid"/>
          </a:ln>
        </p:spPr>
      </p:sp>
      <p:sp>
        <p:nvSpPr>
          <p:cNvPr id="37" name="Text 35"/>
          <p:cNvSpPr txBox="1"/>
          <p:nvPr/>
        </p:nvSpPr>
        <p:spPr>
          <a:xfrm>
            <a:off x="612648" y="3886200"/>
            <a:ext cx="786384" cy="621792"/>
          </a:xfrm>
          <a:prstGeom prst="rect">
            <a:avLst/>
          </a:prstGeom>
          <a:noFill/>
          <a:ln/>
        </p:spPr>
        <p:txBody>
          <a:bodyPr wrap="square" rtlCol="0" anchor="ctr"/>
          <a:lstStyle/>
          <a:p>
            <a:pPr indent="0" marL="0">
              <a:lnSpc>
                <a:spcPct val="100000"/>
              </a:lnSpc>
              <a:buNone/>
            </a:pPr>
            <a:r>
              <a:rPr lang="en-US" sz="1050" b="1" dirty="0">
                <a:solidFill>
                  <a:srgbClr val="123C4A"/>
                </a:solidFill>
                <a:latin typeface="Calibri" pitchFamily="34" charset="0"/>
                <a:ea typeface="Calibri" pitchFamily="34" charset="-122"/>
                <a:cs typeface="Calibri" pitchFamily="34" charset="-120"/>
              </a:rPr>
              <a:t>slope</a:t>
            </a:r>
            <a:endParaRPr lang="en-US" sz="1050" dirty="0"/>
          </a:p>
        </p:txBody>
      </p:sp>
      <p:sp>
        <p:nvSpPr>
          <p:cNvPr id="38" name="Shape 36"/>
          <p:cNvSpPr/>
          <p:nvPr/>
        </p:nvSpPr>
        <p:spPr>
          <a:xfrm>
            <a:off x="1463040" y="3867912"/>
            <a:ext cx="1920240" cy="658368"/>
          </a:xfrm>
          <a:prstGeom prst="rect">
            <a:avLst/>
          </a:prstGeom>
          <a:solidFill>
            <a:srgbClr val="FFFFFF"/>
          </a:solidFill>
          <a:ln w="6350">
            <a:solidFill>
              <a:srgbClr val="E2EAE8"/>
            </a:solidFill>
            <a:prstDash val="solid"/>
          </a:ln>
        </p:spPr>
      </p:sp>
      <p:sp>
        <p:nvSpPr>
          <p:cNvPr id="39" name="Text 37"/>
          <p:cNvSpPr txBox="1"/>
          <p:nvPr/>
        </p:nvSpPr>
        <p:spPr>
          <a:xfrm>
            <a:off x="1527048" y="3886200"/>
            <a:ext cx="1792224" cy="62179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ST Segment Slope</a:t>
            </a:r>
            <a:endParaRPr lang="en-US" sz="1050" dirty="0"/>
          </a:p>
        </p:txBody>
      </p:sp>
      <p:sp>
        <p:nvSpPr>
          <p:cNvPr id="40" name="Shape 38"/>
          <p:cNvSpPr/>
          <p:nvPr/>
        </p:nvSpPr>
        <p:spPr>
          <a:xfrm>
            <a:off x="3383280" y="3867912"/>
            <a:ext cx="5394960" cy="658368"/>
          </a:xfrm>
          <a:prstGeom prst="rect">
            <a:avLst/>
          </a:prstGeom>
          <a:solidFill>
            <a:srgbClr val="FFFFFF"/>
          </a:solidFill>
          <a:ln w="6350">
            <a:solidFill>
              <a:srgbClr val="E2EAE8"/>
            </a:solidFill>
            <a:prstDash val="solid"/>
          </a:ln>
        </p:spPr>
      </p:sp>
      <p:sp>
        <p:nvSpPr>
          <p:cNvPr id="41" name="Text 39"/>
          <p:cNvSpPr txBox="1"/>
          <p:nvPr/>
        </p:nvSpPr>
        <p:spPr>
          <a:xfrm>
            <a:off x="3447288" y="3886200"/>
            <a:ext cx="5266944" cy="62179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Shape of the ST segment at peak exercise (0–2: up/flat/down)</a:t>
            </a:r>
            <a:endParaRPr lang="en-US" sz="1050" dirty="0"/>
          </a:p>
        </p:txBody>
      </p:sp>
      <p:sp>
        <p:nvSpPr>
          <p:cNvPr id="42" name="Shape 40"/>
          <p:cNvSpPr/>
          <p:nvPr/>
        </p:nvSpPr>
        <p:spPr>
          <a:xfrm>
            <a:off x="8778240" y="3867912"/>
            <a:ext cx="2834640" cy="658368"/>
          </a:xfrm>
          <a:prstGeom prst="rect">
            <a:avLst/>
          </a:prstGeom>
          <a:solidFill>
            <a:srgbClr val="FFFFFF"/>
          </a:solidFill>
          <a:ln w="6350">
            <a:solidFill>
              <a:srgbClr val="E2EAE8"/>
            </a:solidFill>
            <a:prstDash val="solid"/>
          </a:ln>
        </p:spPr>
      </p:sp>
      <p:sp>
        <p:nvSpPr>
          <p:cNvPr id="43" name="Text 41"/>
          <p:cNvSpPr txBox="1"/>
          <p:nvPr/>
        </p:nvSpPr>
        <p:spPr>
          <a:xfrm>
            <a:off x="8842248" y="3886200"/>
            <a:ext cx="2706624" cy="62179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Categorical — upsloping generally considered healthier</a:t>
            </a:r>
            <a:endParaRPr lang="en-US" sz="1050" dirty="0"/>
          </a:p>
        </p:txBody>
      </p:sp>
      <p:sp>
        <p:nvSpPr>
          <p:cNvPr id="44" name="Shape 42"/>
          <p:cNvSpPr/>
          <p:nvPr/>
        </p:nvSpPr>
        <p:spPr>
          <a:xfrm>
            <a:off x="548640" y="4526280"/>
            <a:ext cx="914400" cy="658368"/>
          </a:xfrm>
          <a:prstGeom prst="rect">
            <a:avLst/>
          </a:prstGeom>
          <a:solidFill>
            <a:srgbClr val="F7FAF9"/>
          </a:solidFill>
          <a:ln w="6350">
            <a:solidFill>
              <a:srgbClr val="E2EAE8"/>
            </a:solidFill>
            <a:prstDash val="solid"/>
          </a:ln>
        </p:spPr>
      </p:sp>
      <p:sp>
        <p:nvSpPr>
          <p:cNvPr id="45" name="Text 43"/>
          <p:cNvSpPr txBox="1"/>
          <p:nvPr/>
        </p:nvSpPr>
        <p:spPr>
          <a:xfrm>
            <a:off x="612648" y="4544568"/>
            <a:ext cx="786384" cy="621792"/>
          </a:xfrm>
          <a:prstGeom prst="rect">
            <a:avLst/>
          </a:prstGeom>
          <a:noFill/>
          <a:ln/>
        </p:spPr>
        <p:txBody>
          <a:bodyPr wrap="square" rtlCol="0" anchor="ctr"/>
          <a:lstStyle/>
          <a:p>
            <a:pPr indent="0" marL="0">
              <a:lnSpc>
                <a:spcPct val="100000"/>
              </a:lnSpc>
              <a:buNone/>
            </a:pPr>
            <a:r>
              <a:rPr lang="en-US" sz="1050" b="1" dirty="0">
                <a:solidFill>
                  <a:srgbClr val="123C4A"/>
                </a:solidFill>
                <a:latin typeface="Calibri" pitchFamily="34" charset="0"/>
                <a:ea typeface="Calibri" pitchFamily="34" charset="-122"/>
                <a:cs typeface="Calibri" pitchFamily="34" charset="-120"/>
              </a:rPr>
              <a:t>ca</a:t>
            </a:r>
            <a:endParaRPr lang="en-US" sz="1050" dirty="0"/>
          </a:p>
        </p:txBody>
      </p:sp>
      <p:sp>
        <p:nvSpPr>
          <p:cNvPr id="46" name="Shape 44"/>
          <p:cNvSpPr/>
          <p:nvPr/>
        </p:nvSpPr>
        <p:spPr>
          <a:xfrm>
            <a:off x="1463040" y="4526280"/>
            <a:ext cx="1920240" cy="658368"/>
          </a:xfrm>
          <a:prstGeom prst="rect">
            <a:avLst/>
          </a:prstGeom>
          <a:solidFill>
            <a:srgbClr val="F7FAF9"/>
          </a:solidFill>
          <a:ln w="6350">
            <a:solidFill>
              <a:srgbClr val="E2EAE8"/>
            </a:solidFill>
            <a:prstDash val="solid"/>
          </a:ln>
        </p:spPr>
      </p:sp>
      <p:sp>
        <p:nvSpPr>
          <p:cNvPr id="47" name="Text 45"/>
          <p:cNvSpPr txBox="1"/>
          <p:nvPr/>
        </p:nvSpPr>
        <p:spPr>
          <a:xfrm>
            <a:off x="1527048" y="4544568"/>
            <a:ext cx="1792224" cy="62179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Major Vessels Colored</a:t>
            </a:r>
            <a:endParaRPr lang="en-US" sz="1050" dirty="0"/>
          </a:p>
        </p:txBody>
      </p:sp>
      <p:sp>
        <p:nvSpPr>
          <p:cNvPr id="48" name="Shape 46"/>
          <p:cNvSpPr/>
          <p:nvPr/>
        </p:nvSpPr>
        <p:spPr>
          <a:xfrm>
            <a:off x="3383280" y="4526280"/>
            <a:ext cx="5394960" cy="658368"/>
          </a:xfrm>
          <a:prstGeom prst="rect">
            <a:avLst/>
          </a:prstGeom>
          <a:solidFill>
            <a:srgbClr val="F7FAF9"/>
          </a:solidFill>
          <a:ln w="6350">
            <a:solidFill>
              <a:srgbClr val="E2EAE8"/>
            </a:solidFill>
            <a:prstDash val="solid"/>
          </a:ln>
        </p:spPr>
      </p:sp>
      <p:sp>
        <p:nvSpPr>
          <p:cNvPr id="49" name="Text 47"/>
          <p:cNvSpPr txBox="1"/>
          <p:nvPr/>
        </p:nvSpPr>
        <p:spPr>
          <a:xfrm>
            <a:off x="3447288" y="4544568"/>
            <a:ext cx="5266944" cy="62179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Number of major heart vessels (0–3) highlighted on a fluoroscopy scan</a:t>
            </a:r>
            <a:endParaRPr lang="en-US" sz="1050" dirty="0"/>
          </a:p>
        </p:txBody>
      </p:sp>
      <p:sp>
        <p:nvSpPr>
          <p:cNvPr id="50" name="Shape 48"/>
          <p:cNvSpPr/>
          <p:nvPr/>
        </p:nvSpPr>
        <p:spPr>
          <a:xfrm>
            <a:off x="8778240" y="4526280"/>
            <a:ext cx="2834640" cy="658368"/>
          </a:xfrm>
          <a:prstGeom prst="rect">
            <a:avLst/>
          </a:prstGeom>
          <a:solidFill>
            <a:srgbClr val="F7FAF9"/>
          </a:solidFill>
          <a:ln w="6350">
            <a:solidFill>
              <a:srgbClr val="E2EAE8"/>
            </a:solidFill>
            <a:prstDash val="solid"/>
          </a:ln>
        </p:spPr>
      </p:sp>
      <p:sp>
        <p:nvSpPr>
          <p:cNvPr id="51" name="Text 49"/>
          <p:cNvSpPr txBox="1"/>
          <p:nvPr/>
        </p:nvSpPr>
        <p:spPr>
          <a:xfrm>
            <a:off x="8842248" y="4544568"/>
            <a:ext cx="2706624" cy="62179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0 (no vessels flagged) is the healthy value</a:t>
            </a:r>
            <a:endParaRPr lang="en-US" sz="1050" dirty="0"/>
          </a:p>
        </p:txBody>
      </p:sp>
      <p:sp>
        <p:nvSpPr>
          <p:cNvPr id="52" name="Shape 50"/>
          <p:cNvSpPr/>
          <p:nvPr/>
        </p:nvSpPr>
        <p:spPr>
          <a:xfrm>
            <a:off x="548640" y="5184648"/>
            <a:ext cx="914400" cy="658368"/>
          </a:xfrm>
          <a:prstGeom prst="rect">
            <a:avLst/>
          </a:prstGeom>
          <a:solidFill>
            <a:srgbClr val="FFFFFF"/>
          </a:solidFill>
          <a:ln w="6350">
            <a:solidFill>
              <a:srgbClr val="E2EAE8"/>
            </a:solidFill>
            <a:prstDash val="solid"/>
          </a:ln>
        </p:spPr>
      </p:sp>
      <p:sp>
        <p:nvSpPr>
          <p:cNvPr id="53" name="Text 51"/>
          <p:cNvSpPr txBox="1"/>
          <p:nvPr/>
        </p:nvSpPr>
        <p:spPr>
          <a:xfrm>
            <a:off x="612648" y="5202936"/>
            <a:ext cx="786384" cy="621792"/>
          </a:xfrm>
          <a:prstGeom prst="rect">
            <a:avLst/>
          </a:prstGeom>
          <a:noFill/>
          <a:ln/>
        </p:spPr>
        <p:txBody>
          <a:bodyPr wrap="square" rtlCol="0" anchor="ctr"/>
          <a:lstStyle/>
          <a:p>
            <a:pPr indent="0" marL="0">
              <a:lnSpc>
                <a:spcPct val="100000"/>
              </a:lnSpc>
              <a:buNone/>
            </a:pPr>
            <a:r>
              <a:rPr lang="en-US" sz="1050" b="1" dirty="0">
                <a:solidFill>
                  <a:srgbClr val="123C4A"/>
                </a:solidFill>
                <a:latin typeface="Calibri" pitchFamily="34" charset="0"/>
                <a:ea typeface="Calibri" pitchFamily="34" charset="-122"/>
                <a:cs typeface="Calibri" pitchFamily="34" charset="-120"/>
              </a:rPr>
              <a:t>thal</a:t>
            </a:r>
            <a:endParaRPr lang="en-US" sz="1050" dirty="0"/>
          </a:p>
        </p:txBody>
      </p:sp>
      <p:sp>
        <p:nvSpPr>
          <p:cNvPr id="54" name="Shape 52"/>
          <p:cNvSpPr/>
          <p:nvPr/>
        </p:nvSpPr>
        <p:spPr>
          <a:xfrm>
            <a:off x="1463040" y="5184648"/>
            <a:ext cx="1920240" cy="658368"/>
          </a:xfrm>
          <a:prstGeom prst="rect">
            <a:avLst/>
          </a:prstGeom>
          <a:solidFill>
            <a:srgbClr val="FFFFFF"/>
          </a:solidFill>
          <a:ln w="6350">
            <a:solidFill>
              <a:srgbClr val="E2EAE8"/>
            </a:solidFill>
            <a:prstDash val="solid"/>
          </a:ln>
        </p:spPr>
      </p:sp>
      <p:sp>
        <p:nvSpPr>
          <p:cNvPr id="55" name="Text 53"/>
          <p:cNvSpPr txBox="1"/>
          <p:nvPr/>
        </p:nvSpPr>
        <p:spPr>
          <a:xfrm>
            <a:off x="1527048" y="5202936"/>
            <a:ext cx="1792224" cy="62179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Thalassemia Result</a:t>
            </a:r>
            <a:endParaRPr lang="en-US" sz="1050" dirty="0"/>
          </a:p>
        </p:txBody>
      </p:sp>
      <p:sp>
        <p:nvSpPr>
          <p:cNvPr id="56" name="Shape 54"/>
          <p:cNvSpPr/>
          <p:nvPr/>
        </p:nvSpPr>
        <p:spPr>
          <a:xfrm>
            <a:off x="3383280" y="5184648"/>
            <a:ext cx="5394960" cy="658368"/>
          </a:xfrm>
          <a:prstGeom prst="rect">
            <a:avLst/>
          </a:prstGeom>
          <a:solidFill>
            <a:srgbClr val="FFFFFF"/>
          </a:solidFill>
          <a:ln w="6350">
            <a:solidFill>
              <a:srgbClr val="E2EAE8"/>
            </a:solidFill>
            <a:prstDash val="solid"/>
          </a:ln>
        </p:spPr>
      </p:sp>
      <p:sp>
        <p:nvSpPr>
          <p:cNvPr id="57" name="Text 55"/>
          <p:cNvSpPr txBox="1"/>
          <p:nvPr/>
        </p:nvSpPr>
        <p:spPr>
          <a:xfrm>
            <a:off x="3447288" y="5202936"/>
            <a:ext cx="5266944" cy="62179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Category of a blood-disorder-linked heart test result (codes 1–3)</a:t>
            </a:r>
            <a:endParaRPr lang="en-US" sz="1050" dirty="0"/>
          </a:p>
        </p:txBody>
      </p:sp>
      <p:sp>
        <p:nvSpPr>
          <p:cNvPr id="58" name="Shape 56"/>
          <p:cNvSpPr/>
          <p:nvPr/>
        </p:nvSpPr>
        <p:spPr>
          <a:xfrm>
            <a:off x="8778240" y="5184648"/>
            <a:ext cx="2834640" cy="658368"/>
          </a:xfrm>
          <a:prstGeom prst="rect">
            <a:avLst/>
          </a:prstGeom>
          <a:solidFill>
            <a:srgbClr val="FFFFFF"/>
          </a:solidFill>
          <a:ln w="6350">
            <a:solidFill>
              <a:srgbClr val="E2EAE8"/>
            </a:solidFill>
            <a:prstDash val="solid"/>
          </a:ln>
        </p:spPr>
      </p:sp>
      <p:sp>
        <p:nvSpPr>
          <p:cNvPr id="59" name="Text 57"/>
          <p:cNvSpPr txBox="1"/>
          <p:nvPr/>
        </p:nvSpPr>
        <p:spPr>
          <a:xfrm>
            <a:off x="8842248" y="5202936"/>
            <a:ext cx="2706624" cy="621792"/>
          </a:xfrm>
          <a:prstGeom prst="rect">
            <a:avLst/>
          </a:prstGeom>
          <a:noFill/>
          <a:ln/>
        </p:spPr>
        <p:txBody>
          <a:bodyPr wrap="square" rtlCol="0" anchor="ctr"/>
          <a:lstStyle/>
          <a:p>
            <a:pPr indent="0" marL="0">
              <a:lnSpc>
                <a:spcPct val="100000"/>
              </a:lnSpc>
              <a:buNone/>
            </a:pPr>
            <a:r>
              <a:rPr lang="en-US" sz="1050" dirty="0">
                <a:solidFill>
                  <a:srgbClr val="132B31"/>
                </a:solidFill>
                <a:latin typeface="Calibri" pitchFamily="34" charset="0"/>
                <a:ea typeface="Calibri" pitchFamily="34" charset="-122"/>
                <a:cs typeface="Calibri" pitchFamily="34" charset="-120"/>
              </a:rPr>
              <a:t>Categorical — codes vary by source; see note</a:t>
            </a:r>
            <a:endParaRPr lang="en-US" sz="1050" dirty="0"/>
          </a:p>
        </p:txBody>
      </p:sp>
      <p:sp>
        <p:nvSpPr>
          <p:cNvPr id="60" name="Shape 58"/>
          <p:cNvSpPr/>
          <p:nvPr/>
        </p:nvSpPr>
        <p:spPr>
          <a:xfrm>
            <a:off x="548640" y="5980176"/>
            <a:ext cx="11064240" cy="502920"/>
          </a:xfrm>
          <a:prstGeom prst="roundRect">
            <a:avLst>
              <a:gd name="adj" fmla="val 14545"/>
            </a:avLst>
          </a:prstGeom>
          <a:solidFill>
            <a:srgbClr val="EAF3F1"/>
          </a:solidFill>
          <a:ln/>
        </p:spPr>
      </p:sp>
      <p:sp>
        <p:nvSpPr>
          <p:cNvPr id="61" name="Text 59"/>
          <p:cNvSpPr txBox="1"/>
          <p:nvPr/>
        </p:nvSpPr>
        <p:spPr>
          <a:xfrm>
            <a:off x="777240" y="5980176"/>
            <a:ext cx="10607040" cy="502920"/>
          </a:xfrm>
          <a:prstGeom prst="rect">
            <a:avLst/>
          </a:prstGeom>
          <a:noFill/>
          <a:ln/>
        </p:spPr>
        <p:txBody>
          <a:bodyPr wrap="square" rtlCol="0" anchor="ctr"/>
          <a:lstStyle/>
          <a:p>
            <a:pPr indent="0" marL="0">
              <a:buNone/>
            </a:pPr>
            <a:r>
              <a:rPr lang="en-US" sz="1050" b="1" i="1" dirty="0">
                <a:solidFill>
                  <a:srgbClr val="123C4A"/>
                </a:solidFill>
                <a:latin typeface="Calibri" pitchFamily="34" charset="0"/>
                <a:ea typeface="Calibri" pitchFamily="34" charset="-122"/>
                <a:cs typeface="Calibri" pitchFamily="34" charset="-120"/>
              </a:rPr>
              <a:t>ca and thal are the two most important features by permutation importance (see slide 9) — both align with established cardiology risk markers.</a:t>
            </a:r>
            <a:endParaRPr lang="en-US" sz="1050" dirty="0"/>
          </a:p>
        </p:txBody>
      </p:sp>
      <p:sp>
        <p:nvSpPr>
          <p:cNvPr id="62" name="Text 60"/>
          <p:cNvSpPr/>
          <p:nvPr/>
        </p:nvSpPr>
        <p:spPr>
          <a:xfrm>
            <a:off x="457200" y="6492240"/>
            <a:ext cx="5486400" cy="274320"/>
          </a:xfrm>
          <a:prstGeom prst="rect">
            <a:avLst/>
          </a:prstGeom>
          <a:noFill/>
          <a:ln/>
        </p:spPr>
        <p:txBody>
          <a:bodyPr wrap="square" rtlCol="0" anchor="ctr"/>
          <a:lstStyle/>
          <a:p>
            <a:pPr indent="0" marL="0">
              <a:buNone/>
            </a:pPr>
            <a:r>
              <a:rPr lang="en-US" sz="900" dirty="0">
                <a:solidFill>
                  <a:srgbClr val="5B7A78"/>
                </a:solidFill>
                <a:latin typeface="Calibri" pitchFamily="34" charset="0"/>
                <a:ea typeface="Calibri" pitchFamily="34" charset="-122"/>
                <a:cs typeface="Calibri" pitchFamily="34" charset="-120"/>
              </a:rPr>
              <a:t>CardioGuard — SMLC Mini Project</a:t>
            </a:r>
            <a:endParaRPr lang="en-US" sz="900" dirty="0"/>
          </a:p>
        </p:txBody>
      </p:sp>
      <p:sp>
        <p:nvSpPr>
          <p:cNvPr id="63" name="Text 61"/>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7A7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058400" cy="640080"/>
          </a:xfrm>
          <a:prstGeom prst="rect">
            <a:avLst/>
          </a:prstGeom>
          <a:noFill/>
          <a:ln/>
        </p:spPr>
        <p:txBody>
          <a:bodyPr wrap="square" rtlCol="0" anchor="ctr"/>
          <a:lstStyle/>
          <a:p>
            <a:pPr indent="0" marL="0">
              <a:buNone/>
            </a:pPr>
            <a:r>
              <a:rPr lang="en-US" sz="3000" b="1" dirty="0">
                <a:solidFill>
                  <a:srgbClr val="123C4A"/>
                </a:solidFill>
                <a:latin typeface="Cambria" pitchFamily="34" charset="0"/>
                <a:ea typeface="Cambria" pitchFamily="34" charset="-122"/>
                <a:cs typeface="Cambria" pitchFamily="34" charset="-120"/>
              </a:rPr>
              <a:t>Methodology &amp; Pipeline</a:t>
            </a:r>
            <a:endParaRPr lang="en-US" sz="3000" dirty="0"/>
          </a:p>
        </p:txBody>
      </p:sp>
      <p:sp>
        <p:nvSpPr>
          <p:cNvPr id="3" name="Text 1"/>
          <p:cNvSpPr txBox="1"/>
          <p:nvPr/>
        </p:nvSpPr>
        <p:spPr>
          <a:xfrm>
            <a:off x="548640" y="1051560"/>
            <a:ext cx="10698480" cy="411480"/>
          </a:xfrm>
          <a:prstGeom prst="rect">
            <a:avLst/>
          </a:prstGeom>
          <a:noFill/>
          <a:ln/>
        </p:spPr>
        <p:txBody>
          <a:bodyPr wrap="square" rtlCol="0" anchor="ctr"/>
          <a:lstStyle/>
          <a:p>
            <a:pPr indent="0" marL="0">
              <a:buNone/>
            </a:pPr>
            <a:r>
              <a:rPr lang="en-US" sz="1350" dirty="0">
                <a:solidFill>
                  <a:srgbClr val="5B7A78"/>
                </a:solidFill>
                <a:latin typeface="Calibri" pitchFamily="34" charset="0"/>
                <a:ea typeface="Calibri" pitchFamily="34" charset="-122"/>
                <a:cs typeface="Calibri" pitchFamily="34" charset="-120"/>
              </a:rPr>
              <a:t>A leak-proof scikit-learn Pipeline: preprocessing is fit only on the training fold, for every model and every CV split.</a:t>
            </a:r>
            <a:endParaRPr lang="en-US" sz="1350" dirty="0"/>
          </a:p>
        </p:txBody>
      </p:sp>
      <p:sp>
        <p:nvSpPr>
          <p:cNvPr id="4" name="Shape 2"/>
          <p:cNvSpPr/>
          <p:nvPr/>
        </p:nvSpPr>
        <p:spPr>
          <a:xfrm>
            <a:off x="548640" y="1965960"/>
            <a:ext cx="2606040" cy="2514600"/>
          </a:xfrm>
          <a:prstGeom prst="roundRect">
            <a:avLst>
              <a:gd name="adj" fmla="val 3636"/>
            </a:avLst>
          </a:prstGeom>
          <a:solidFill>
            <a:srgbClr val="EAF3F1"/>
          </a:solidFill>
          <a:ln/>
        </p:spPr>
      </p:sp>
      <p:sp>
        <p:nvSpPr>
          <p:cNvPr id="5" name="Shape 3"/>
          <p:cNvSpPr/>
          <p:nvPr/>
        </p:nvSpPr>
        <p:spPr>
          <a:xfrm>
            <a:off x="1531620" y="2221992"/>
            <a:ext cx="640080" cy="640080"/>
          </a:xfrm>
          <a:prstGeom prst="ellipse">
            <a:avLst/>
          </a:prstGeom>
          <a:solidFill>
            <a:srgbClr val="123C4A"/>
          </a:solidFill>
          <a:ln/>
        </p:spPr>
      </p:sp>
      <p:pic>
        <p:nvPicPr>
          <p:cNvPr id="6" name="Image 0" descr="icon_cogs.png">    </p:cNvPr>
          <p:cNvPicPr>
            <a:picLocks noChangeAspect="1"/>
          </p:cNvPicPr>
          <p:nvPr/>
        </p:nvPicPr>
        <p:blipFill>
          <a:blip r:embed="rId1"/>
          <a:stretch>
            <a:fillRect/>
          </a:stretch>
        </p:blipFill>
        <p:spPr>
          <a:xfrm>
            <a:off x="1685239" y="2375611"/>
            <a:ext cx="332842" cy="332842"/>
          </a:xfrm>
          <a:prstGeom prst="rect">
            <a:avLst/>
          </a:prstGeom>
        </p:spPr>
      </p:pic>
      <p:sp>
        <p:nvSpPr>
          <p:cNvPr id="7" name="Text 4"/>
          <p:cNvSpPr txBox="1"/>
          <p:nvPr/>
        </p:nvSpPr>
        <p:spPr>
          <a:xfrm>
            <a:off x="658368" y="2075688"/>
            <a:ext cx="457200" cy="365760"/>
          </a:xfrm>
          <a:prstGeom prst="rect">
            <a:avLst/>
          </a:prstGeom>
          <a:noFill/>
          <a:ln/>
        </p:spPr>
        <p:txBody>
          <a:bodyPr wrap="square" rtlCol="0" anchor="ctr"/>
          <a:lstStyle/>
          <a:p>
            <a:pPr indent="0" marL="0">
              <a:buNone/>
            </a:pPr>
            <a:r>
              <a:rPr lang="en-US" sz="1600" b="1" dirty="0">
                <a:solidFill>
                  <a:srgbClr val="123C4A"/>
                </a:solidFill>
                <a:latin typeface="Cambria" pitchFamily="34" charset="0"/>
                <a:ea typeface="Cambria" pitchFamily="34" charset="-122"/>
                <a:cs typeface="Cambria" pitchFamily="34" charset="-120"/>
              </a:rPr>
              <a:t>1</a:t>
            </a:r>
            <a:endParaRPr lang="en-US" sz="1600" dirty="0"/>
          </a:p>
        </p:txBody>
      </p:sp>
      <p:sp>
        <p:nvSpPr>
          <p:cNvPr id="8" name="Text 5"/>
          <p:cNvSpPr txBox="1"/>
          <p:nvPr/>
        </p:nvSpPr>
        <p:spPr>
          <a:xfrm>
            <a:off x="713232" y="3017520"/>
            <a:ext cx="2276856" cy="365760"/>
          </a:xfrm>
          <a:prstGeom prst="rect">
            <a:avLst/>
          </a:prstGeom>
          <a:noFill/>
          <a:ln/>
        </p:spPr>
        <p:txBody>
          <a:bodyPr wrap="square" rtlCol="0" anchor="ctr"/>
          <a:lstStyle/>
          <a:p>
            <a:pPr algn="ctr" indent="0" marL="0">
              <a:buNone/>
            </a:pPr>
            <a:r>
              <a:rPr lang="en-US" sz="1400" b="1" dirty="0">
                <a:solidFill>
                  <a:srgbClr val="123C4A"/>
                </a:solidFill>
                <a:latin typeface="Calibri" pitchFamily="34" charset="0"/>
                <a:ea typeface="Calibri" pitchFamily="34" charset="-122"/>
                <a:cs typeface="Calibri" pitchFamily="34" charset="-120"/>
              </a:rPr>
              <a:t>Preprocess</a:t>
            </a:r>
            <a:endParaRPr lang="en-US" sz="1400" dirty="0"/>
          </a:p>
        </p:txBody>
      </p:sp>
      <p:sp>
        <p:nvSpPr>
          <p:cNvPr id="9" name="Text 6"/>
          <p:cNvSpPr txBox="1"/>
          <p:nvPr/>
        </p:nvSpPr>
        <p:spPr>
          <a:xfrm>
            <a:off x="713232" y="3429000"/>
            <a:ext cx="2276856" cy="960120"/>
          </a:xfrm>
          <a:prstGeom prst="rect">
            <a:avLst/>
          </a:prstGeom>
          <a:noFill/>
          <a:ln/>
        </p:spPr>
        <p:txBody>
          <a:bodyPr wrap="square" rtlCol="0" anchor="ctr"/>
          <a:lstStyle/>
          <a:p>
            <a:pPr algn="ctr" indent="0" marL="0">
              <a:lnSpc>
                <a:spcPct val="115000"/>
              </a:lnSpc>
              <a:buNone/>
            </a:pPr>
            <a:r>
              <a:rPr lang="en-US" sz="1050" dirty="0">
                <a:solidFill>
                  <a:srgbClr val="132B31"/>
                </a:solidFill>
                <a:latin typeface="Calibri" pitchFamily="34" charset="0"/>
                <a:ea typeface="Calibri" pitchFamily="34" charset="-122"/>
                <a:cs typeface="Calibri" pitchFamily="34" charset="-120"/>
              </a:rPr>
              <a:t>ColumnTransformer: scale / passthrough / one-hot</a:t>
            </a:r>
            <a:endParaRPr lang="en-US" sz="1050" dirty="0"/>
          </a:p>
        </p:txBody>
      </p:sp>
      <p:sp>
        <p:nvSpPr>
          <p:cNvPr id="10" name="Text 7"/>
          <p:cNvSpPr txBox="1"/>
          <p:nvPr/>
        </p:nvSpPr>
        <p:spPr>
          <a:xfrm>
            <a:off x="3136392" y="2350008"/>
            <a:ext cx="237744" cy="457200"/>
          </a:xfrm>
          <a:prstGeom prst="rect">
            <a:avLst/>
          </a:prstGeom>
          <a:noFill/>
          <a:ln/>
        </p:spPr>
        <p:txBody>
          <a:bodyPr wrap="square" lIns="0" tIns="0" rIns="0" bIns="0" rtlCol="0" anchor="ctr"/>
          <a:lstStyle/>
          <a:p>
            <a:pPr algn="ctr" indent="0" marL="0">
              <a:buNone/>
            </a:pPr>
            <a:r>
              <a:rPr lang="en-US" sz="2000" b="1" dirty="0">
                <a:solidFill>
                  <a:srgbClr val="E4572E"/>
                </a:solidFill>
                <a:latin typeface="Arial" pitchFamily="34" charset="0"/>
                <a:ea typeface="Arial" pitchFamily="34" charset="-122"/>
                <a:cs typeface="Arial" pitchFamily="34" charset="-120"/>
              </a:rPr>
              <a:t>→</a:t>
            </a:r>
            <a:endParaRPr lang="en-US" sz="2000" dirty="0"/>
          </a:p>
        </p:txBody>
      </p:sp>
      <p:sp>
        <p:nvSpPr>
          <p:cNvPr id="11" name="Shape 8"/>
          <p:cNvSpPr/>
          <p:nvPr/>
        </p:nvSpPr>
        <p:spPr>
          <a:xfrm>
            <a:off x="3355848" y="1965960"/>
            <a:ext cx="2606040" cy="2514600"/>
          </a:xfrm>
          <a:prstGeom prst="roundRect">
            <a:avLst>
              <a:gd name="adj" fmla="val 3636"/>
            </a:avLst>
          </a:prstGeom>
          <a:solidFill>
            <a:srgbClr val="EAF3F1"/>
          </a:solidFill>
          <a:ln/>
        </p:spPr>
      </p:sp>
      <p:sp>
        <p:nvSpPr>
          <p:cNvPr id="12" name="Shape 9"/>
          <p:cNvSpPr/>
          <p:nvPr/>
        </p:nvSpPr>
        <p:spPr>
          <a:xfrm>
            <a:off x="4338828" y="2221992"/>
            <a:ext cx="640080" cy="640080"/>
          </a:xfrm>
          <a:prstGeom prst="ellipse">
            <a:avLst/>
          </a:prstGeom>
          <a:solidFill>
            <a:srgbClr val="123C4A"/>
          </a:solidFill>
          <a:ln/>
        </p:spPr>
      </p:sp>
      <p:pic>
        <p:nvPicPr>
          <p:cNvPr id="13" name="Image 1" descr="icon_layergroup.png">    </p:cNvPr>
          <p:cNvPicPr>
            <a:picLocks noChangeAspect="1"/>
          </p:cNvPicPr>
          <p:nvPr/>
        </p:nvPicPr>
        <p:blipFill>
          <a:blip r:embed="rId2"/>
          <a:stretch>
            <a:fillRect/>
          </a:stretch>
        </p:blipFill>
        <p:spPr>
          <a:xfrm>
            <a:off x="4492447" y="2375611"/>
            <a:ext cx="332842" cy="332842"/>
          </a:xfrm>
          <a:prstGeom prst="rect">
            <a:avLst/>
          </a:prstGeom>
        </p:spPr>
      </p:pic>
      <p:sp>
        <p:nvSpPr>
          <p:cNvPr id="14" name="Text 10"/>
          <p:cNvSpPr txBox="1"/>
          <p:nvPr/>
        </p:nvSpPr>
        <p:spPr>
          <a:xfrm>
            <a:off x="3465576" y="2075688"/>
            <a:ext cx="457200" cy="365760"/>
          </a:xfrm>
          <a:prstGeom prst="rect">
            <a:avLst/>
          </a:prstGeom>
          <a:noFill/>
          <a:ln/>
        </p:spPr>
        <p:txBody>
          <a:bodyPr wrap="square" rtlCol="0" anchor="ctr"/>
          <a:lstStyle/>
          <a:p>
            <a:pPr indent="0" marL="0">
              <a:buNone/>
            </a:pPr>
            <a:r>
              <a:rPr lang="en-US" sz="1600" b="1" dirty="0">
                <a:solidFill>
                  <a:srgbClr val="123C4A"/>
                </a:solidFill>
                <a:latin typeface="Cambria" pitchFamily="34" charset="0"/>
                <a:ea typeface="Cambria" pitchFamily="34" charset="-122"/>
                <a:cs typeface="Cambria" pitchFamily="34" charset="-120"/>
              </a:rPr>
              <a:t>2</a:t>
            </a:r>
            <a:endParaRPr lang="en-US" sz="1600" dirty="0"/>
          </a:p>
        </p:txBody>
      </p:sp>
      <p:sp>
        <p:nvSpPr>
          <p:cNvPr id="15" name="Text 11"/>
          <p:cNvSpPr txBox="1"/>
          <p:nvPr/>
        </p:nvSpPr>
        <p:spPr>
          <a:xfrm>
            <a:off x="3520440" y="3017520"/>
            <a:ext cx="2276856" cy="365760"/>
          </a:xfrm>
          <a:prstGeom prst="rect">
            <a:avLst/>
          </a:prstGeom>
          <a:noFill/>
          <a:ln/>
        </p:spPr>
        <p:txBody>
          <a:bodyPr wrap="square" rtlCol="0" anchor="ctr"/>
          <a:lstStyle/>
          <a:p>
            <a:pPr algn="ctr" indent="0" marL="0">
              <a:buNone/>
            </a:pPr>
            <a:r>
              <a:rPr lang="en-US" sz="1400" b="1" dirty="0">
                <a:solidFill>
                  <a:srgbClr val="123C4A"/>
                </a:solidFill>
                <a:latin typeface="Calibri" pitchFamily="34" charset="0"/>
                <a:ea typeface="Calibri" pitchFamily="34" charset="-122"/>
                <a:cs typeface="Calibri" pitchFamily="34" charset="-120"/>
              </a:rPr>
              <a:t>Tune 6 models</a:t>
            </a:r>
            <a:endParaRPr lang="en-US" sz="1400" dirty="0"/>
          </a:p>
        </p:txBody>
      </p:sp>
      <p:sp>
        <p:nvSpPr>
          <p:cNvPr id="16" name="Text 12"/>
          <p:cNvSpPr txBox="1"/>
          <p:nvPr/>
        </p:nvSpPr>
        <p:spPr>
          <a:xfrm>
            <a:off x="3520440" y="3429000"/>
            <a:ext cx="2276856" cy="960120"/>
          </a:xfrm>
          <a:prstGeom prst="rect">
            <a:avLst/>
          </a:prstGeom>
          <a:noFill/>
          <a:ln/>
        </p:spPr>
        <p:txBody>
          <a:bodyPr wrap="square" rtlCol="0" anchor="ctr"/>
          <a:lstStyle/>
          <a:p>
            <a:pPr algn="ctr" indent="0" marL="0">
              <a:lnSpc>
                <a:spcPct val="115000"/>
              </a:lnSpc>
              <a:buNone/>
            </a:pPr>
            <a:r>
              <a:rPr lang="en-US" sz="1050" dirty="0">
                <a:solidFill>
                  <a:srgbClr val="132B31"/>
                </a:solidFill>
                <a:latin typeface="Calibri" pitchFamily="34" charset="0"/>
                <a:ea typeface="Calibri" pitchFamily="34" charset="-122"/>
                <a:cs typeface="Calibri" pitchFamily="34" charset="-120"/>
              </a:rPr>
              <a:t>GridSearchCV, 5-fold stratified CV, optimize ROC-AUC</a:t>
            </a:r>
            <a:endParaRPr lang="en-US" sz="1050" dirty="0"/>
          </a:p>
        </p:txBody>
      </p:sp>
      <p:sp>
        <p:nvSpPr>
          <p:cNvPr id="17" name="Text 13"/>
          <p:cNvSpPr txBox="1"/>
          <p:nvPr/>
        </p:nvSpPr>
        <p:spPr>
          <a:xfrm>
            <a:off x="5943600" y="2350008"/>
            <a:ext cx="237744" cy="457200"/>
          </a:xfrm>
          <a:prstGeom prst="rect">
            <a:avLst/>
          </a:prstGeom>
          <a:noFill/>
          <a:ln/>
        </p:spPr>
        <p:txBody>
          <a:bodyPr wrap="square" lIns="0" tIns="0" rIns="0" bIns="0" rtlCol="0" anchor="ctr"/>
          <a:lstStyle/>
          <a:p>
            <a:pPr algn="ctr" indent="0" marL="0">
              <a:buNone/>
            </a:pPr>
            <a:r>
              <a:rPr lang="en-US" sz="2000" b="1" dirty="0">
                <a:solidFill>
                  <a:srgbClr val="E4572E"/>
                </a:solidFill>
                <a:latin typeface="Arial" pitchFamily="34" charset="0"/>
                <a:ea typeface="Arial" pitchFamily="34" charset="-122"/>
                <a:cs typeface="Arial" pitchFamily="34" charset="-120"/>
              </a:rPr>
              <a:t>→</a:t>
            </a:r>
            <a:endParaRPr lang="en-US" sz="2000" dirty="0"/>
          </a:p>
        </p:txBody>
      </p:sp>
      <p:sp>
        <p:nvSpPr>
          <p:cNvPr id="18" name="Shape 14"/>
          <p:cNvSpPr/>
          <p:nvPr/>
        </p:nvSpPr>
        <p:spPr>
          <a:xfrm>
            <a:off x="6163056" y="1965960"/>
            <a:ext cx="2606040" cy="2514600"/>
          </a:xfrm>
          <a:prstGeom prst="roundRect">
            <a:avLst>
              <a:gd name="adj" fmla="val 3636"/>
            </a:avLst>
          </a:prstGeom>
          <a:solidFill>
            <a:srgbClr val="123C4A"/>
          </a:solidFill>
          <a:ln/>
        </p:spPr>
      </p:sp>
      <p:sp>
        <p:nvSpPr>
          <p:cNvPr id="19" name="Shape 15"/>
          <p:cNvSpPr/>
          <p:nvPr/>
        </p:nvSpPr>
        <p:spPr>
          <a:xfrm>
            <a:off x="7146036" y="2221992"/>
            <a:ext cx="640080" cy="640080"/>
          </a:xfrm>
          <a:prstGeom prst="ellipse">
            <a:avLst/>
          </a:prstGeom>
          <a:solidFill>
            <a:srgbClr val="E4572E"/>
          </a:solidFill>
          <a:ln/>
        </p:spPr>
      </p:sp>
      <p:pic>
        <p:nvPicPr>
          <p:cNvPr id="20" name="Image 2" descr="icon_projectdiagram.png">    </p:cNvPr>
          <p:cNvPicPr>
            <a:picLocks noChangeAspect="1"/>
          </p:cNvPicPr>
          <p:nvPr/>
        </p:nvPicPr>
        <p:blipFill>
          <a:blip r:embed="rId3"/>
          <a:stretch>
            <a:fillRect/>
          </a:stretch>
        </p:blipFill>
        <p:spPr>
          <a:xfrm>
            <a:off x="7299655" y="2375611"/>
            <a:ext cx="332842" cy="332842"/>
          </a:xfrm>
          <a:prstGeom prst="rect">
            <a:avLst/>
          </a:prstGeom>
        </p:spPr>
      </p:pic>
      <p:sp>
        <p:nvSpPr>
          <p:cNvPr id="21" name="Text 16"/>
          <p:cNvSpPr txBox="1"/>
          <p:nvPr/>
        </p:nvSpPr>
        <p:spPr>
          <a:xfrm>
            <a:off x="6272784" y="2075688"/>
            <a:ext cx="457200" cy="36576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2" name="Text 17"/>
          <p:cNvSpPr txBox="1"/>
          <p:nvPr/>
        </p:nvSpPr>
        <p:spPr>
          <a:xfrm>
            <a:off x="6327648" y="3017520"/>
            <a:ext cx="2276856"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Stack ensemble</a:t>
            </a:r>
            <a:endParaRPr lang="en-US" sz="1400" dirty="0"/>
          </a:p>
        </p:txBody>
      </p:sp>
      <p:sp>
        <p:nvSpPr>
          <p:cNvPr id="23" name="Text 18"/>
          <p:cNvSpPr txBox="1"/>
          <p:nvPr/>
        </p:nvSpPr>
        <p:spPr>
          <a:xfrm>
            <a:off x="6327648" y="3429000"/>
            <a:ext cx="2276856" cy="960120"/>
          </a:xfrm>
          <a:prstGeom prst="rect">
            <a:avLst/>
          </a:prstGeom>
          <a:noFill/>
          <a:ln/>
        </p:spPr>
        <p:txBody>
          <a:bodyPr wrap="square" rtlCol="0" anchor="ctr"/>
          <a:lstStyle/>
          <a:p>
            <a:pPr algn="ctr" indent="0" marL="0">
              <a:lnSpc>
                <a:spcPct val="115000"/>
              </a:lnSpc>
              <a:buNone/>
            </a:pPr>
            <a:r>
              <a:rPr lang="en-US" sz="1050" dirty="0">
                <a:solidFill>
                  <a:srgbClr val="D7EAE6"/>
                </a:solidFill>
                <a:latin typeface="Calibri" pitchFamily="34" charset="0"/>
                <a:ea typeface="Calibri" pitchFamily="34" charset="-122"/>
                <a:cs typeface="Calibri" pitchFamily="34" charset="-120"/>
              </a:rPr>
              <a:t>Combine tuned base learners → Logistic Regression meta-learner</a:t>
            </a:r>
            <a:endParaRPr lang="en-US" sz="1050" dirty="0"/>
          </a:p>
        </p:txBody>
      </p:sp>
      <p:sp>
        <p:nvSpPr>
          <p:cNvPr id="24" name="Text 19"/>
          <p:cNvSpPr txBox="1"/>
          <p:nvPr/>
        </p:nvSpPr>
        <p:spPr>
          <a:xfrm>
            <a:off x="8750808" y="2350008"/>
            <a:ext cx="237744" cy="457200"/>
          </a:xfrm>
          <a:prstGeom prst="rect">
            <a:avLst/>
          </a:prstGeom>
          <a:noFill/>
          <a:ln/>
        </p:spPr>
        <p:txBody>
          <a:bodyPr wrap="square" lIns="0" tIns="0" rIns="0" bIns="0" rtlCol="0" anchor="ctr"/>
          <a:lstStyle/>
          <a:p>
            <a:pPr algn="ctr" indent="0" marL="0">
              <a:buNone/>
            </a:pPr>
            <a:r>
              <a:rPr lang="en-US" sz="2000" b="1" dirty="0">
                <a:solidFill>
                  <a:srgbClr val="E4572E"/>
                </a:solidFill>
                <a:latin typeface="Arial" pitchFamily="34" charset="0"/>
                <a:ea typeface="Arial" pitchFamily="34" charset="-122"/>
                <a:cs typeface="Arial" pitchFamily="34" charset="-120"/>
              </a:rPr>
              <a:t>→</a:t>
            </a:r>
            <a:endParaRPr lang="en-US" sz="2000" dirty="0"/>
          </a:p>
        </p:txBody>
      </p:sp>
      <p:sp>
        <p:nvSpPr>
          <p:cNvPr id="25" name="Shape 20"/>
          <p:cNvSpPr/>
          <p:nvPr/>
        </p:nvSpPr>
        <p:spPr>
          <a:xfrm>
            <a:off x="8970264" y="1965960"/>
            <a:ext cx="2606040" cy="2514600"/>
          </a:xfrm>
          <a:prstGeom prst="roundRect">
            <a:avLst>
              <a:gd name="adj" fmla="val 3636"/>
            </a:avLst>
          </a:prstGeom>
          <a:solidFill>
            <a:srgbClr val="EAF3F1"/>
          </a:solidFill>
          <a:ln/>
        </p:spPr>
      </p:sp>
      <p:sp>
        <p:nvSpPr>
          <p:cNvPr id="26" name="Shape 21"/>
          <p:cNvSpPr/>
          <p:nvPr/>
        </p:nvSpPr>
        <p:spPr>
          <a:xfrm>
            <a:off x="9953244" y="2221992"/>
            <a:ext cx="640080" cy="640080"/>
          </a:xfrm>
          <a:prstGeom prst="ellipse">
            <a:avLst/>
          </a:prstGeom>
          <a:solidFill>
            <a:srgbClr val="123C4A"/>
          </a:solidFill>
          <a:ln/>
        </p:spPr>
      </p:sp>
      <p:pic>
        <p:nvPicPr>
          <p:cNvPr id="27" name="Image 3" descr="icon_brain.png">    </p:cNvPr>
          <p:cNvPicPr>
            <a:picLocks noChangeAspect="1"/>
          </p:cNvPicPr>
          <p:nvPr/>
        </p:nvPicPr>
        <p:blipFill>
          <a:blip r:embed="rId4"/>
          <a:stretch>
            <a:fillRect/>
          </a:stretch>
        </p:blipFill>
        <p:spPr>
          <a:xfrm>
            <a:off x="10106863" y="2375611"/>
            <a:ext cx="332842" cy="332842"/>
          </a:xfrm>
          <a:prstGeom prst="rect">
            <a:avLst/>
          </a:prstGeom>
        </p:spPr>
      </p:pic>
      <p:sp>
        <p:nvSpPr>
          <p:cNvPr id="28" name="Text 22"/>
          <p:cNvSpPr txBox="1"/>
          <p:nvPr/>
        </p:nvSpPr>
        <p:spPr>
          <a:xfrm>
            <a:off x="9079992" y="2075688"/>
            <a:ext cx="457200" cy="365760"/>
          </a:xfrm>
          <a:prstGeom prst="rect">
            <a:avLst/>
          </a:prstGeom>
          <a:noFill/>
          <a:ln/>
        </p:spPr>
        <p:txBody>
          <a:bodyPr wrap="square" rtlCol="0" anchor="ctr"/>
          <a:lstStyle/>
          <a:p>
            <a:pPr indent="0" marL="0">
              <a:buNone/>
            </a:pPr>
            <a:r>
              <a:rPr lang="en-US" sz="1600" b="1" dirty="0">
                <a:solidFill>
                  <a:srgbClr val="123C4A"/>
                </a:solidFill>
                <a:latin typeface="Cambria" pitchFamily="34" charset="0"/>
                <a:ea typeface="Cambria" pitchFamily="34" charset="-122"/>
                <a:cs typeface="Cambria" pitchFamily="34" charset="-120"/>
              </a:rPr>
              <a:t>4</a:t>
            </a:r>
            <a:endParaRPr lang="en-US" sz="1600" dirty="0"/>
          </a:p>
        </p:txBody>
      </p:sp>
      <p:sp>
        <p:nvSpPr>
          <p:cNvPr id="29" name="Text 23"/>
          <p:cNvSpPr txBox="1"/>
          <p:nvPr/>
        </p:nvSpPr>
        <p:spPr>
          <a:xfrm>
            <a:off x="9134856" y="3017520"/>
            <a:ext cx="2276856" cy="365760"/>
          </a:xfrm>
          <a:prstGeom prst="rect">
            <a:avLst/>
          </a:prstGeom>
          <a:noFill/>
          <a:ln/>
        </p:spPr>
        <p:txBody>
          <a:bodyPr wrap="square" rtlCol="0" anchor="ctr"/>
          <a:lstStyle/>
          <a:p>
            <a:pPr algn="ctr" indent="0" marL="0">
              <a:buNone/>
            </a:pPr>
            <a:r>
              <a:rPr lang="en-US" sz="1400" b="1" dirty="0">
                <a:solidFill>
                  <a:srgbClr val="123C4A"/>
                </a:solidFill>
                <a:latin typeface="Calibri" pitchFamily="34" charset="0"/>
                <a:ea typeface="Calibri" pitchFamily="34" charset="-122"/>
                <a:cs typeface="Calibri" pitchFamily="34" charset="-120"/>
              </a:rPr>
              <a:t>Explain &amp; deploy</a:t>
            </a:r>
            <a:endParaRPr lang="en-US" sz="1400" dirty="0"/>
          </a:p>
        </p:txBody>
      </p:sp>
      <p:sp>
        <p:nvSpPr>
          <p:cNvPr id="30" name="Text 24"/>
          <p:cNvSpPr txBox="1"/>
          <p:nvPr/>
        </p:nvSpPr>
        <p:spPr>
          <a:xfrm>
            <a:off x="9134856" y="3429000"/>
            <a:ext cx="2276856" cy="960120"/>
          </a:xfrm>
          <a:prstGeom prst="rect">
            <a:avLst/>
          </a:prstGeom>
          <a:noFill/>
          <a:ln/>
        </p:spPr>
        <p:txBody>
          <a:bodyPr wrap="square" rtlCol="0" anchor="ctr"/>
          <a:lstStyle/>
          <a:p>
            <a:pPr algn="ctr" indent="0" marL="0">
              <a:lnSpc>
                <a:spcPct val="115000"/>
              </a:lnSpc>
              <a:buNone/>
            </a:pPr>
            <a:r>
              <a:rPr lang="en-US" sz="1050" dirty="0">
                <a:solidFill>
                  <a:srgbClr val="132B31"/>
                </a:solidFill>
                <a:latin typeface="Calibri" pitchFamily="34" charset="0"/>
                <a:ea typeface="Calibri" pitchFamily="34" charset="-122"/>
                <a:cs typeface="Calibri" pitchFamily="34" charset="-120"/>
              </a:rPr>
              <a:t>Permutation importance + SHAP; single joblib Pipeline</a:t>
            </a:r>
            <a:endParaRPr lang="en-US" sz="1050" dirty="0"/>
          </a:p>
        </p:txBody>
      </p:sp>
      <p:sp>
        <p:nvSpPr>
          <p:cNvPr id="31" name="Text 25"/>
          <p:cNvSpPr txBox="1"/>
          <p:nvPr/>
        </p:nvSpPr>
        <p:spPr>
          <a:xfrm>
            <a:off x="548640" y="4754880"/>
            <a:ext cx="11064240" cy="365760"/>
          </a:xfrm>
          <a:prstGeom prst="rect">
            <a:avLst/>
          </a:prstGeom>
          <a:noFill/>
          <a:ln/>
        </p:spPr>
        <p:txBody>
          <a:bodyPr wrap="square" rtlCol="0" anchor="ctr"/>
          <a:lstStyle/>
          <a:p>
            <a:pPr indent="0" marL="0">
              <a:buNone/>
            </a:pPr>
            <a:r>
              <a:rPr lang="en-US" sz="1250" b="1" dirty="0">
                <a:solidFill>
                  <a:srgbClr val="123C4A"/>
                </a:solidFill>
                <a:latin typeface="Calibri" pitchFamily="34" charset="0"/>
                <a:ea typeface="Calibri" pitchFamily="34" charset="-122"/>
                <a:cs typeface="Calibri" pitchFamily="34" charset="-120"/>
              </a:rPr>
              <a:t>Base learners tuned: Logistic Regression · K-Nearest Neighbors · Decision Tree · Random Forest · SVM (RBF) · Gradient Boosting</a:t>
            </a:r>
            <a:endParaRPr lang="en-US" sz="1250" dirty="0"/>
          </a:p>
        </p:txBody>
      </p:sp>
      <p:sp>
        <p:nvSpPr>
          <p:cNvPr id="32" name="Text 26"/>
          <p:cNvSpPr txBox="1"/>
          <p:nvPr/>
        </p:nvSpPr>
        <p:spPr>
          <a:xfrm>
            <a:off x="548640" y="5166360"/>
            <a:ext cx="11064240" cy="1051560"/>
          </a:xfrm>
          <a:prstGeom prst="rect">
            <a:avLst/>
          </a:prstGeom>
          <a:noFill/>
          <a:ln/>
        </p:spPr>
        <p:txBody>
          <a:bodyPr wrap="square" rtlCol="0" anchor="ctr"/>
          <a:lstStyle/>
          <a:p>
            <a:pPr indent="0" marL="0">
              <a:lnSpc>
                <a:spcPct val="125000"/>
              </a:lnSpc>
              <a:buNone/>
            </a:pPr>
            <a:r>
              <a:rPr lang="en-US" sz="1200" dirty="0">
                <a:solidFill>
                  <a:srgbClr val="132B31"/>
                </a:solidFill>
                <a:latin typeface="Calibri" pitchFamily="34" charset="0"/>
                <a:ea typeface="Calibri" pitchFamily="34" charset="-122"/>
                <a:cs typeface="Calibri" pitchFamily="34" charset="-120"/>
              </a:rPr>
              <a:t>Novelty: (1) hyperparameter-tuned Stacking Ensemble selected purely by cross-validated ROC-AUC (never by peeking at the test set); (2) dual explainability — global permutation importance + exact per-patient SHAP values; (3) single deployable Pipeline object shipped to an interactive UI.</a:t>
            </a:r>
            <a:endParaRPr lang="en-US" sz="1200" dirty="0"/>
          </a:p>
        </p:txBody>
      </p:sp>
      <p:sp>
        <p:nvSpPr>
          <p:cNvPr id="33" name="Text 27"/>
          <p:cNvSpPr/>
          <p:nvPr/>
        </p:nvSpPr>
        <p:spPr>
          <a:xfrm>
            <a:off x="457200" y="6492240"/>
            <a:ext cx="5486400" cy="274320"/>
          </a:xfrm>
          <a:prstGeom prst="rect">
            <a:avLst/>
          </a:prstGeom>
          <a:noFill/>
          <a:ln/>
        </p:spPr>
        <p:txBody>
          <a:bodyPr wrap="square" rtlCol="0" anchor="ctr"/>
          <a:lstStyle/>
          <a:p>
            <a:pPr indent="0" marL="0">
              <a:buNone/>
            </a:pPr>
            <a:r>
              <a:rPr lang="en-US" sz="900" dirty="0">
                <a:solidFill>
                  <a:srgbClr val="5B7A78"/>
                </a:solidFill>
                <a:latin typeface="Calibri" pitchFamily="34" charset="0"/>
                <a:ea typeface="Calibri" pitchFamily="34" charset="-122"/>
                <a:cs typeface="Calibri" pitchFamily="34" charset="-120"/>
              </a:rPr>
              <a:t>CardioGuard — SMLC Mini Project</a:t>
            </a:r>
            <a:endParaRPr lang="en-US" sz="900" dirty="0"/>
          </a:p>
        </p:txBody>
      </p:sp>
      <p:sp>
        <p:nvSpPr>
          <p:cNvPr id="34" name="Text 28"/>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7A7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515600" cy="594360"/>
          </a:xfrm>
          <a:prstGeom prst="rect">
            <a:avLst/>
          </a:prstGeom>
          <a:noFill/>
          <a:ln/>
        </p:spPr>
        <p:txBody>
          <a:bodyPr wrap="square" rtlCol="0" anchor="ctr"/>
          <a:lstStyle/>
          <a:p>
            <a:pPr indent="0" marL="0">
              <a:buNone/>
            </a:pPr>
            <a:r>
              <a:rPr lang="en-US" sz="2800" b="1" dirty="0">
                <a:solidFill>
                  <a:srgbClr val="123C4A"/>
                </a:solidFill>
                <a:latin typeface="Cambria" pitchFamily="34" charset="0"/>
                <a:ea typeface="Cambria" pitchFamily="34" charset="-122"/>
                <a:cs typeface="Cambria" pitchFamily="34" charset="-120"/>
              </a:rPr>
              <a:t>Tuned Baseline Model Comparison</a:t>
            </a:r>
            <a:endParaRPr lang="en-US" sz="2800" dirty="0"/>
          </a:p>
        </p:txBody>
      </p:sp>
      <p:sp>
        <p:nvSpPr>
          <p:cNvPr id="3" name="Text 1"/>
          <p:cNvSpPr txBox="1"/>
          <p:nvPr/>
        </p:nvSpPr>
        <p:spPr>
          <a:xfrm>
            <a:off x="548640" y="960120"/>
            <a:ext cx="10972800" cy="365760"/>
          </a:xfrm>
          <a:prstGeom prst="rect">
            <a:avLst/>
          </a:prstGeom>
          <a:noFill/>
          <a:ln/>
        </p:spPr>
        <p:txBody>
          <a:bodyPr wrap="square" rtlCol="0" anchor="ctr"/>
          <a:lstStyle/>
          <a:p>
            <a:pPr indent="0" marL="0">
              <a:buNone/>
            </a:pPr>
            <a:r>
              <a:rPr lang="en-US" sz="1300" dirty="0">
                <a:solidFill>
                  <a:srgbClr val="5B7A78"/>
                </a:solidFill>
                <a:latin typeface="Calibri" pitchFamily="34" charset="0"/>
                <a:ea typeface="Calibri" pitchFamily="34" charset="-122"/>
                <a:cs typeface="Calibri" pitchFamily="34" charset="-120"/>
              </a:rPr>
              <a:t>5-fold cross-validated ROC-AUC (training set) vs. held-out test ROC-AUC, after GridSearchCV tuning</a:t>
            </a:r>
            <a:endParaRPr lang="en-US" sz="1300" dirty="0"/>
          </a:p>
        </p:txBody>
      </p:sp>
      <p:graphicFrame>
        <p:nvGraphicFramePr>
          <p:cNvPr id="4" name="Chart 0" descr=""/>
          <p:cNvGraphicFramePr/>
          <p:nvPr/>
        </p:nvGraphicFramePr>
        <p:xfrm>
          <a:off x="548640" y="1417320"/>
          <a:ext cx="7680960" cy="45720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458200" y="1417320"/>
            <a:ext cx="3200400" cy="4572000"/>
          </a:xfrm>
          <a:prstGeom prst="roundRect">
            <a:avLst>
              <a:gd name="adj" fmla="val 3429"/>
            </a:avLst>
          </a:prstGeom>
          <a:solidFill>
            <a:srgbClr val="EAF3F1"/>
          </a:solidFill>
          <a:ln/>
        </p:spPr>
      </p:sp>
      <p:sp>
        <p:nvSpPr>
          <p:cNvPr id="6" name="Text 3"/>
          <p:cNvSpPr txBox="1"/>
          <p:nvPr/>
        </p:nvSpPr>
        <p:spPr>
          <a:xfrm>
            <a:off x="8732520" y="1645920"/>
            <a:ext cx="2743200" cy="365760"/>
          </a:xfrm>
          <a:prstGeom prst="rect">
            <a:avLst/>
          </a:prstGeom>
          <a:noFill/>
          <a:ln/>
        </p:spPr>
        <p:txBody>
          <a:bodyPr wrap="square" rtlCol="0" anchor="ctr"/>
          <a:lstStyle/>
          <a:p>
            <a:pPr indent="0" marL="0">
              <a:buNone/>
            </a:pPr>
            <a:r>
              <a:rPr lang="en-US" sz="1400" b="1" dirty="0">
                <a:solidFill>
                  <a:srgbClr val="123C4A"/>
                </a:solidFill>
                <a:latin typeface="Calibri" pitchFamily="34" charset="0"/>
                <a:ea typeface="Calibri" pitchFamily="34" charset="-122"/>
                <a:cs typeface="Calibri" pitchFamily="34" charset="-120"/>
              </a:rPr>
              <a:t>Takeaways</a:t>
            </a:r>
            <a:endParaRPr lang="en-US" sz="1400" dirty="0"/>
          </a:p>
        </p:txBody>
      </p:sp>
      <p:sp>
        <p:nvSpPr>
          <p:cNvPr id="7" name="Text 4"/>
          <p:cNvSpPr txBox="1"/>
          <p:nvPr/>
        </p:nvSpPr>
        <p:spPr>
          <a:xfrm>
            <a:off x="8732520" y="2148840"/>
            <a:ext cx="2743200" cy="914400"/>
          </a:xfrm>
          <a:prstGeom prst="rect">
            <a:avLst/>
          </a:prstGeom>
          <a:noFill/>
          <a:ln/>
        </p:spPr>
        <p:txBody>
          <a:bodyPr wrap="square" rtlCol="0" anchor="ctr"/>
          <a:lstStyle/>
          <a:p>
            <a:pPr indent="0" marL="0">
              <a:lnSpc>
                <a:spcPct val="115000"/>
              </a:lnSpc>
              <a:buNone/>
            </a:pPr>
            <a:r>
              <a:rPr lang="en-US" sz="1080" dirty="0">
                <a:solidFill>
                  <a:srgbClr val="132B31"/>
                </a:solidFill>
                <a:latin typeface="Calibri" pitchFamily="34" charset="0"/>
                <a:ea typeface="Calibri" pitchFamily="34" charset="-122"/>
                <a:cs typeface="Calibri" pitchFamily="34" charset="-120"/>
              </a:rPr>
              <a:t>• Logistic Regression leads on CV ROC-AUC (0.896) — the linear signal in this feature set is strong.</a:t>
            </a:r>
            <a:endParaRPr lang="en-US" sz="1080" dirty="0"/>
          </a:p>
        </p:txBody>
      </p:sp>
      <p:sp>
        <p:nvSpPr>
          <p:cNvPr id="8" name="Text 5"/>
          <p:cNvSpPr txBox="1"/>
          <p:nvPr/>
        </p:nvSpPr>
        <p:spPr>
          <a:xfrm>
            <a:off x="8732520" y="3108960"/>
            <a:ext cx="2743200" cy="914400"/>
          </a:xfrm>
          <a:prstGeom prst="rect">
            <a:avLst/>
          </a:prstGeom>
          <a:noFill/>
          <a:ln/>
        </p:spPr>
        <p:txBody>
          <a:bodyPr wrap="square" rtlCol="0" anchor="ctr"/>
          <a:lstStyle/>
          <a:p>
            <a:pPr indent="0" marL="0">
              <a:lnSpc>
                <a:spcPct val="115000"/>
              </a:lnSpc>
              <a:buNone/>
            </a:pPr>
            <a:r>
              <a:rPr lang="en-US" sz="1080" dirty="0">
                <a:solidFill>
                  <a:srgbClr val="132B31"/>
                </a:solidFill>
                <a:latin typeface="Calibri" pitchFamily="34" charset="0"/>
                <a:ea typeface="Calibri" pitchFamily="34" charset="-122"/>
                <a:cs typeface="Calibri" pitchFamily="34" charset="-120"/>
              </a:rPr>
              <a:t>• SVM (RBF) generalizes best on the untouched test set (ROC-AUC 0.918).</a:t>
            </a:r>
            <a:endParaRPr lang="en-US" sz="1080" dirty="0"/>
          </a:p>
        </p:txBody>
      </p:sp>
      <p:sp>
        <p:nvSpPr>
          <p:cNvPr id="9" name="Text 6"/>
          <p:cNvSpPr txBox="1"/>
          <p:nvPr/>
        </p:nvSpPr>
        <p:spPr>
          <a:xfrm>
            <a:off x="8732520" y="4069080"/>
            <a:ext cx="2743200" cy="914400"/>
          </a:xfrm>
          <a:prstGeom prst="rect">
            <a:avLst/>
          </a:prstGeom>
          <a:noFill/>
          <a:ln/>
        </p:spPr>
        <p:txBody>
          <a:bodyPr wrap="square" rtlCol="0" anchor="ctr"/>
          <a:lstStyle/>
          <a:p>
            <a:pPr indent="0" marL="0">
              <a:lnSpc>
                <a:spcPct val="115000"/>
              </a:lnSpc>
              <a:buNone/>
            </a:pPr>
            <a:r>
              <a:rPr lang="en-US" sz="1080" dirty="0">
                <a:solidFill>
                  <a:srgbClr val="132B31"/>
                </a:solidFill>
                <a:latin typeface="Calibri" pitchFamily="34" charset="0"/>
                <a:ea typeface="Calibri" pitchFamily="34" charset="-122"/>
                <a:cs typeface="Calibri" pitchFamily="34" charset="-120"/>
              </a:rPr>
              <a:t>• Decision Tree is weakest and most test-CV gap prone — a single tree overfits small tabular data.</a:t>
            </a:r>
            <a:endParaRPr lang="en-US" sz="1080" dirty="0"/>
          </a:p>
        </p:txBody>
      </p:sp>
      <p:sp>
        <p:nvSpPr>
          <p:cNvPr id="10" name="Text 7"/>
          <p:cNvSpPr txBox="1"/>
          <p:nvPr/>
        </p:nvSpPr>
        <p:spPr>
          <a:xfrm>
            <a:off x="8732520" y="5029200"/>
            <a:ext cx="2743200" cy="914400"/>
          </a:xfrm>
          <a:prstGeom prst="rect">
            <a:avLst/>
          </a:prstGeom>
          <a:noFill/>
          <a:ln/>
        </p:spPr>
        <p:txBody>
          <a:bodyPr wrap="square" rtlCol="0" anchor="ctr"/>
          <a:lstStyle/>
          <a:p>
            <a:pPr indent="0" marL="0">
              <a:lnSpc>
                <a:spcPct val="115000"/>
              </a:lnSpc>
              <a:buNone/>
            </a:pPr>
            <a:r>
              <a:rPr lang="en-US" sz="1080" dirty="0">
                <a:solidFill>
                  <a:srgbClr val="132B31"/>
                </a:solidFill>
                <a:latin typeface="Calibri" pitchFamily="34" charset="0"/>
                <a:ea typeface="Calibri" pitchFamily="34" charset="-122"/>
                <a:cs typeface="Calibri" pitchFamily="34" charset="-120"/>
              </a:rPr>
              <a:t>• No single model dominates both views → motivates stacking multiple tuned learners.</a:t>
            </a:r>
            <a:endParaRPr lang="en-US" sz="1080" dirty="0"/>
          </a:p>
        </p:txBody>
      </p:sp>
      <p:sp>
        <p:nvSpPr>
          <p:cNvPr id="11" name="Text 8"/>
          <p:cNvSpPr/>
          <p:nvPr/>
        </p:nvSpPr>
        <p:spPr>
          <a:xfrm>
            <a:off x="457200" y="6492240"/>
            <a:ext cx="5486400" cy="274320"/>
          </a:xfrm>
          <a:prstGeom prst="rect">
            <a:avLst/>
          </a:prstGeom>
          <a:noFill/>
          <a:ln/>
        </p:spPr>
        <p:txBody>
          <a:bodyPr wrap="square" rtlCol="0" anchor="ctr"/>
          <a:lstStyle/>
          <a:p>
            <a:pPr indent="0" marL="0">
              <a:buNone/>
            </a:pPr>
            <a:r>
              <a:rPr lang="en-US" sz="900" dirty="0">
                <a:solidFill>
                  <a:srgbClr val="5B7A78"/>
                </a:solidFill>
                <a:latin typeface="Calibri" pitchFamily="34" charset="0"/>
                <a:ea typeface="Calibri" pitchFamily="34" charset="-122"/>
                <a:cs typeface="Calibri" pitchFamily="34" charset="-120"/>
              </a:rPr>
              <a:t>CardioGuard — SMLC Mini Project</a:t>
            </a:r>
            <a:endParaRPr lang="en-US" sz="900" dirty="0"/>
          </a:p>
        </p:txBody>
      </p:sp>
      <p:sp>
        <p:nvSpPr>
          <p:cNvPr id="12" name="Text 9"/>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7A7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515600" cy="594360"/>
          </a:xfrm>
          <a:prstGeom prst="rect">
            <a:avLst/>
          </a:prstGeom>
          <a:noFill/>
          <a:ln/>
        </p:spPr>
        <p:txBody>
          <a:bodyPr wrap="square" rtlCol="0" anchor="ctr"/>
          <a:lstStyle/>
          <a:p>
            <a:pPr indent="0" marL="0">
              <a:buNone/>
            </a:pPr>
            <a:r>
              <a:rPr lang="en-US" sz="2800" b="1" dirty="0">
                <a:solidFill>
                  <a:srgbClr val="123C4A"/>
                </a:solidFill>
                <a:latin typeface="Cambria" pitchFamily="34" charset="0"/>
                <a:ea typeface="Cambria" pitchFamily="34" charset="-122"/>
                <a:cs typeface="Cambria" pitchFamily="34" charset="-120"/>
              </a:rPr>
              <a:t>Stacking Ensemble — Final Results</a:t>
            </a:r>
            <a:endParaRPr lang="en-US" sz="2800" dirty="0"/>
          </a:p>
        </p:txBody>
      </p:sp>
      <p:sp>
        <p:nvSpPr>
          <p:cNvPr id="3" name="Text 1"/>
          <p:cNvSpPr txBox="1"/>
          <p:nvPr/>
        </p:nvSpPr>
        <p:spPr>
          <a:xfrm>
            <a:off x="548640" y="960120"/>
            <a:ext cx="11064240" cy="365760"/>
          </a:xfrm>
          <a:prstGeom prst="rect">
            <a:avLst/>
          </a:prstGeom>
          <a:noFill/>
          <a:ln/>
        </p:spPr>
        <p:txBody>
          <a:bodyPr wrap="square" rtlCol="0" anchor="ctr"/>
          <a:lstStyle/>
          <a:p>
            <a:pPr indent="0" marL="0">
              <a:buNone/>
            </a:pPr>
            <a:r>
              <a:rPr lang="en-US" sz="1250" dirty="0">
                <a:solidFill>
                  <a:srgbClr val="5B7A78"/>
                </a:solidFill>
                <a:latin typeface="Calibri" pitchFamily="34" charset="0"/>
                <a:ea typeface="Calibri" pitchFamily="34" charset="-122"/>
                <a:cs typeface="Calibri" pitchFamily="34" charset="-120"/>
              </a:rPr>
              <a:t>Selected combination: Logistic Regression + Random Forest + Gradient Boosting, LR meta-learner (chosen by CV ROC-AUC alone)</a:t>
            </a:r>
            <a:endParaRPr lang="en-US" sz="1250" dirty="0"/>
          </a:p>
        </p:txBody>
      </p:sp>
      <p:sp>
        <p:nvSpPr>
          <p:cNvPr id="4" name="Shape 2"/>
          <p:cNvSpPr/>
          <p:nvPr/>
        </p:nvSpPr>
        <p:spPr>
          <a:xfrm>
            <a:off x="548640" y="1463040"/>
            <a:ext cx="2606040" cy="960120"/>
          </a:xfrm>
          <a:prstGeom prst="roundRect">
            <a:avLst>
              <a:gd name="adj" fmla="val 9524"/>
            </a:avLst>
          </a:prstGeom>
          <a:solidFill>
            <a:srgbClr val="123C4A"/>
          </a:solidFill>
          <a:ln/>
        </p:spPr>
      </p:sp>
      <p:sp>
        <p:nvSpPr>
          <p:cNvPr id="5" name="Text 3"/>
          <p:cNvSpPr txBox="1"/>
          <p:nvPr/>
        </p:nvSpPr>
        <p:spPr>
          <a:xfrm>
            <a:off x="548640" y="1536192"/>
            <a:ext cx="2606040" cy="502920"/>
          </a:xfrm>
          <a:prstGeom prst="rect">
            <a:avLst/>
          </a:prstGeom>
          <a:noFill/>
          <a:ln/>
        </p:spPr>
        <p:txBody>
          <a:bodyPr wrap="square" rtlCol="0" anchor="ctr"/>
          <a:lstStyle/>
          <a:p>
            <a:pPr algn="ctr" indent="0" marL="0">
              <a:buNone/>
            </a:pPr>
            <a:r>
              <a:rPr lang="en-US" sz="2400" b="1" dirty="0">
                <a:solidFill>
                  <a:srgbClr val="E4572E"/>
                </a:solidFill>
                <a:latin typeface="Cambria" pitchFamily="34" charset="0"/>
                <a:ea typeface="Cambria" pitchFamily="34" charset="-122"/>
                <a:cs typeface="Cambria" pitchFamily="34" charset="-120"/>
              </a:rPr>
              <a:t>0.898</a:t>
            </a:r>
            <a:endParaRPr lang="en-US" sz="2400" dirty="0"/>
          </a:p>
        </p:txBody>
      </p:sp>
      <p:sp>
        <p:nvSpPr>
          <p:cNvPr id="6" name="Text 4"/>
          <p:cNvSpPr txBox="1"/>
          <p:nvPr/>
        </p:nvSpPr>
        <p:spPr>
          <a:xfrm>
            <a:off x="548640" y="2011680"/>
            <a:ext cx="2606040" cy="320040"/>
          </a:xfrm>
          <a:prstGeom prst="rect">
            <a:avLst/>
          </a:prstGeom>
          <a:noFill/>
          <a:ln/>
        </p:spPr>
        <p:txBody>
          <a:bodyPr wrap="square" rtlCol="0" anchor="ctr"/>
          <a:lstStyle/>
          <a:p>
            <a:pPr algn="ctr" indent="0" marL="0">
              <a:buNone/>
            </a:pPr>
            <a:r>
              <a:rPr lang="en-US" sz="1050" dirty="0">
                <a:solidFill>
                  <a:srgbClr val="D7EAE6"/>
                </a:solidFill>
                <a:latin typeface="Calibri" pitchFamily="34" charset="0"/>
                <a:ea typeface="Calibri" pitchFamily="34" charset="-122"/>
                <a:cs typeface="Calibri" pitchFamily="34" charset="-120"/>
              </a:rPr>
              <a:t>CV ROC-AUC</a:t>
            </a:r>
            <a:endParaRPr lang="en-US" sz="1050" dirty="0"/>
          </a:p>
        </p:txBody>
      </p:sp>
      <p:sp>
        <p:nvSpPr>
          <p:cNvPr id="7" name="Shape 5"/>
          <p:cNvSpPr/>
          <p:nvPr/>
        </p:nvSpPr>
        <p:spPr>
          <a:xfrm>
            <a:off x="3337560" y="1463040"/>
            <a:ext cx="2606040" cy="960120"/>
          </a:xfrm>
          <a:prstGeom prst="roundRect">
            <a:avLst>
              <a:gd name="adj" fmla="val 9524"/>
            </a:avLst>
          </a:prstGeom>
          <a:solidFill>
            <a:srgbClr val="123C4A"/>
          </a:solidFill>
          <a:ln/>
        </p:spPr>
      </p:sp>
      <p:sp>
        <p:nvSpPr>
          <p:cNvPr id="8" name="Text 6"/>
          <p:cNvSpPr txBox="1"/>
          <p:nvPr/>
        </p:nvSpPr>
        <p:spPr>
          <a:xfrm>
            <a:off x="3337560" y="1536192"/>
            <a:ext cx="2606040" cy="502920"/>
          </a:xfrm>
          <a:prstGeom prst="rect">
            <a:avLst/>
          </a:prstGeom>
          <a:noFill/>
          <a:ln/>
        </p:spPr>
        <p:txBody>
          <a:bodyPr wrap="square" rtlCol="0" anchor="ctr"/>
          <a:lstStyle/>
          <a:p>
            <a:pPr algn="ctr" indent="0" marL="0">
              <a:buNone/>
            </a:pPr>
            <a:r>
              <a:rPr lang="en-US" sz="2400" b="1" dirty="0">
                <a:solidFill>
                  <a:srgbClr val="E4572E"/>
                </a:solidFill>
                <a:latin typeface="Cambria" pitchFamily="34" charset="0"/>
                <a:ea typeface="Cambria" pitchFamily="34" charset="-122"/>
                <a:cs typeface="Cambria" pitchFamily="34" charset="-120"/>
              </a:rPr>
              <a:t>0.881</a:t>
            </a:r>
            <a:endParaRPr lang="en-US" sz="2400" dirty="0"/>
          </a:p>
        </p:txBody>
      </p:sp>
      <p:sp>
        <p:nvSpPr>
          <p:cNvPr id="9" name="Text 7"/>
          <p:cNvSpPr txBox="1"/>
          <p:nvPr/>
        </p:nvSpPr>
        <p:spPr>
          <a:xfrm>
            <a:off x="3337560" y="2011680"/>
            <a:ext cx="2606040" cy="320040"/>
          </a:xfrm>
          <a:prstGeom prst="rect">
            <a:avLst/>
          </a:prstGeom>
          <a:noFill/>
          <a:ln/>
        </p:spPr>
        <p:txBody>
          <a:bodyPr wrap="square" rtlCol="0" anchor="ctr"/>
          <a:lstStyle/>
          <a:p>
            <a:pPr algn="ctr" indent="0" marL="0">
              <a:buNone/>
            </a:pPr>
            <a:r>
              <a:rPr lang="en-US" sz="1050" dirty="0">
                <a:solidFill>
                  <a:srgbClr val="D7EAE6"/>
                </a:solidFill>
                <a:latin typeface="Calibri" pitchFamily="34" charset="0"/>
                <a:ea typeface="Calibri" pitchFamily="34" charset="-122"/>
                <a:cs typeface="Calibri" pitchFamily="34" charset="-120"/>
              </a:rPr>
              <a:t>Test ROC-AUC</a:t>
            </a:r>
            <a:endParaRPr lang="en-US" sz="1050" dirty="0"/>
          </a:p>
        </p:txBody>
      </p:sp>
      <p:sp>
        <p:nvSpPr>
          <p:cNvPr id="10" name="Shape 8"/>
          <p:cNvSpPr/>
          <p:nvPr/>
        </p:nvSpPr>
        <p:spPr>
          <a:xfrm>
            <a:off x="6126480" y="1463040"/>
            <a:ext cx="2606040" cy="960120"/>
          </a:xfrm>
          <a:prstGeom prst="roundRect">
            <a:avLst>
              <a:gd name="adj" fmla="val 9524"/>
            </a:avLst>
          </a:prstGeom>
          <a:solidFill>
            <a:srgbClr val="123C4A"/>
          </a:solidFill>
          <a:ln/>
        </p:spPr>
      </p:sp>
      <p:sp>
        <p:nvSpPr>
          <p:cNvPr id="11" name="Text 9"/>
          <p:cNvSpPr txBox="1"/>
          <p:nvPr/>
        </p:nvSpPr>
        <p:spPr>
          <a:xfrm>
            <a:off x="6126480" y="1536192"/>
            <a:ext cx="2606040" cy="502920"/>
          </a:xfrm>
          <a:prstGeom prst="rect">
            <a:avLst/>
          </a:prstGeom>
          <a:noFill/>
          <a:ln/>
        </p:spPr>
        <p:txBody>
          <a:bodyPr wrap="square" rtlCol="0" anchor="ctr"/>
          <a:lstStyle/>
          <a:p>
            <a:pPr algn="ctr" indent="0" marL="0">
              <a:buNone/>
            </a:pPr>
            <a:r>
              <a:rPr lang="en-US" sz="2400" b="1" dirty="0">
                <a:solidFill>
                  <a:srgbClr val="E4572E"/>
                </a:solidFill>
                <a:latin typeface="Cambria" pitchFamily="34" charset="0"/>
                <a:ea typeface="Cambria" pitchFamily="34" charset="-122"/>
                <a:cs typeface="Cambria" pitchFamily="34" charset="-120"/>
              </a:rPr>
              <a:t>77.0%</a:t>
            </a:r>
            <a:endParaRPr lang="en-US" sz="2400" dirty="0"/>
          </a:p>
        </p:txBody>
      </p:sp>
      <p:sp>
        <p:nvSpPr>
          <p:cNvPr id="12" name="Text 10"/>
          <p:cNvSpPr txBox="1"/>
          <p:nvPr/>
        </p:nvSpPr>
        <p:spPr>
          <a:xfrm>
            <a:off x="6126480" y="2011680"/>
            <a:ext cx="2606040" cy="320040"/>
          </a:xfrm>
          <a:prstGeom prst="rect">
            <a:avLst/>
          </a:prstGeom>
          <a:noFill/>
          <a:ln/>
        </p:spPr>
        <p:txBody>
          <a:bodyPr wrap="square" rtlCol="0" anchor="ctr"/>
          <a:lstStyle/>
          <a:p>
            <a:pPr algn="ctr" indent="0" marL="0">
              <a:buNone/>
            </a:pPr>
            <a:r>
              <a:rPr lang="en-US" sz="1050" dirty="0">
                <a:solidFill>
                  <a:srgbClr val="D7EAE6"/>
                </a:solidFill>
                <a:latin typeface="Calibri" pitchFamily="34" charset="0"/>
                <a:ea typeface="Calibri" pitchFamily="34" charset="-122"/>
                <a:cs typeface="Calibri" pitchFamily="34" charset="-120"/>
              </a:rPr>
              <a:t>Test Accuracy</a:t>
            </a:r>
            <a:endParaRPr lang="en-US" sz="1050" dirty="0"/>
          </a:p>
        </p:txBody>
      </p:sp>
      <p:sp>
        <p:nvSpPr>
          <p:cNvPr id="13" name="Shape 11"/>
          <p:cNvSpPr/>
          <p:nvPr/>
        </p:nvSpPr>
        <p:spPr>
          <a:xfrm>
            <a:off x="8915400" y="1463040"/>
            <a:ext cx="2606040" cy="960120"/>
          </a:xfrm>
          <a:prstGeom prst="roundRect">
            <a:avLst>
              <a:gd name="adj" fmla="val 9524"/>
            </a:avLst>
          </a:prstGeom>
          <a:solidFill>
            <a:srgbClr val="123C4A"/>
          </a:solidFill>
          <a:ln/>
        </p:spPr>
      </p:sp>
      <p:sp>
        <p:nvSpPr>
          <p:cNvPr id="14" name="Text 12"/>
          <p:cNvSpPr txBox="1"/>
          <p:nvPr/>
        </p:nvSpPr>
        <p:spPr>
          <a:xfrm>
            <a:off x="8915400" y="1536192"/>
            <a:ext cx="2606040" cy="502920"/>
          </a:xfrm>
          <a:prstGeom prst="rect">
            <a:avLst/>
          </a:prstGeom>
          <a:noFill/>
          <a:ln/>
        </p:spPr>
        <p:txBody>
          <a:bodyPr wrap="square" rtlCol="0" anchor="ctr"/>
          <a:lstStyle/>
          <a:p>
            <a:pPr algn="ctr" indent="0" marL="0">
              <a:buNone/>
            </a:pPr>
            <a:r>
              <a:rPr lang="en-US" sz="2400" b="1" dirty="0">
                <a:solidFill>
                  <a:srgbClr val="E4572E"/>
                </a:solidFill>
                <a:latin typeface="Cambria" pitchFamily="34" charset="0"/>
                <a:ea typeface="Cambria" pitchFamily="34" charset="-122"/>
                <a:cs typeface="Cambria" pitchFamily="34" charset="-120"/>
              </a:rPr>
              <a:t>0.800</a:t>
            </a:r>
            <a:endParaRPr lang="en-US" sz="2400" dirty="0"/>
          </a:p>
        </p:txBody>
      </p:sp>
      <p:sp>
        <p:nvSpPr>
          <p:cNvPr id="15" name="Text 13"/>
          <p:cNvSpPr txBox="1"/>
          <p:nvPr/>
        </p:nvSpPr>
        <p:spPr>
          <a:xfrm>
            <a:off x="8915400" y="2011680"/>
            <a:ext cx="2606040" cy="320040"/>
          </a:xfrm>
          <a:prstGeom prst="rect">
            <a:avLst/>
          </a:prstGeom>
          <a:noFill/>
          <a:ln/>
        </p:spPr>
        <p:txBody>
          <a:bodyPr wrap="square" rtlCol="0" anchor="ctr"/>
          <a:lstStyle/>
          <a:p>
            <a:pPr algn="ctr" indent="0" marL="0">
              <a:buNone/>
            </a:pPr>
            <a:r>
              <a:rPr lang="en-US" sz="1050" dirty="0">
                <a:solidFill>
                  <a:srgbClr val="D7EAE6"/>
                </a:solidFill>
                <a:latin typeface="Calibri" pitchFamily="34" charset="0"/>
                <a:ea typeface="Calibri" pitchFamily="34" charset="-122"/>
                <a:cs typeface="Calibri" pitchFamily="34" charset="-120"/>
              </a:rPr>
              <a:t>Test F1</a:t>
            </a:r>
            <a:endParaRPr lang="en-US" sz="1050" dirty="0"/>
          </a:p>
        </p:txBody>
      </p:sp>
      <p:pic>
        <p:nvPicPr>
          <p:cNvPr id="16" name="Image 0" descr="/home/claude/plot_cm_roc.png">    </p:cNvPr>
          <p:cNvPicPr>
            <a:picLocks noChangeAspect="1"/>
          </p:cNvPicPr>
          <p:nvPr/>
        </p:nvPicPr>
        <p:blipFill>
          <a:blip r:embed="rId1"/>
          <a:stretch>
            <a:fillRect/>
          </a:stretch>
        </p:blipFill>
        <p:spPr>
          <a:xfrm>
            <a:off x="548640" y="2743200"/>
            <a:ext cx="8092440" cy="2697480"/>
          </a:xfrm>
          <a:prstGeom prst="rect">
            <a:avLst/>
          </a:prstGeom>
        </p:spPr>
      </p:pic>
      <p:sp>
        <p:nvSpPr>
          <p:cNvPr id="17" name="Shape 14"/>
          <p:cNvSpPr/>
          <p:nvPr/>
        </p:nvSpPr>
        <p:spPr>
          <a:xfrm>
            <a:off x="8823960" y="2743200"/>
            <a:ext cx="2834640" cy="3520440"/>
          </a:xfrm>
          <a:prstGeom prst="roundRect">
            <a:avLst>
              <a:gd name="adj" fmla="val 3871"/>
            </a:avLst>
          </a:prstGeom>
          <a:solidFill>
            <a:srgbClr val="EAF3F1"/>
          </a:solidFill>
          <a:ln/>
        </p:spPr>
      </p:sp>
      <p:sp>
        <p:nvSpPr>
          <p:cNvPr id="18" name="Text 15"/>
          <p:cNvSpPr txBox="1"/>
          <p:nvPr/>
        </p:nvSpPr>
        <p:spPr>
          <a:xfrm>
            <a:off x="9052560" y="2926080"/>
            <a:ext cx="2377440" cy="320040"/>
          </a:xfrm>
          <a:prstGeom prst="rect">
            <a:avLst/>
          </a:prstGeom>
          <a:noFill/>
          <a:ln/>
        </p:spPr>
        <p:txBody>
          <a:bodyPr wrap="square" rtlCol="0" anchor="ctr"/>
          <a:lstStyle/>
          <a:p>
            <a:pPr indent="0" marL="0">
              <a:buNone/>
            </a:pPr>
            <a:r>
              <a:rPr lang="en-US" sz="1300" b="1" dirty="0">
                <a:solidFill>
                  <a:srgbClr val="123C4A"/>
                </a:solidFill>
                <a:latin typeface="Calibri" pitchFamily="34" charset="0"/>
                <a:ea typeface="Calibri" pitchFamily="34" charset="-122"/>
                <a:cs typeface="Calibri" pitchFamily="34" charset="-120"/>
              </a:rPr>
              <a:t>Sanity check</a:t>
            </a:r>
            <a:endParaRPr lang="en-US" sz="1300" dirty="0"/>
          </a:p>
        </p:txBody>
      </p:sp>
      <p:sp>
        <p:nvSpPr>
          <p:cNvPr id="19" name="Text 16"/>
          <p:cNvSpPr txBox="1"/>
          <p:nvPr/>
        </p:nvSpPr>
        <p:spPr>
          <a:xfrm>
            <a:off x="9052560" y="3291840"/>
            <a:ext cx="2377440" cy="2834640"/>
          </a:xfrm>
          <a:prstGeom prst="rect">
            <a:avLst/>
          </a:prstGeom>
          <a:noFill/>
          <a:ln/>
        </p:spPr>
        <p:txBody>
          <a:bodyPr wrap="square" rtlCol="0" anchor="ctr"/>
          <a:lstStyle/>
          <a:p>
            <a:pPr indent="0" marL="0">
              <a:lnSpc>
                <a:spcPct val="120000"/>
              </a:lnSpc>
              <a:buNone/>
            </a:pPr>
            <a:r>
              <a:rPr lang="en-US" sz="1100" dirty="0">
                <a:solidFill>
                  <a:srgbClr val="132B31"/>
                </a:solidFill>
                <a:latin typeface="Calibri" pitchFamily="34" charset="0"/>
                <a:ea typeface="Calibri" pitchFamily="34" charset="-122"/>
                <a:cs typeface="Calibri" pitchFamily="34" charset="-120"/>
              </a:rPr>
              <a:t>Majority-class baseline: </a:t>
            </a:r>
            <a:pPr indent="0" marL="0">
              <a:lnSpc>
                <a:spcPct val="120000"/>
              </a:lnSpc>
              <a:buNone/>
            </a:pPr>
            <a:r>
              <a:rPr lang="en-US" sz="1100" b="1" dirty="0">
                <a:solidFill>
                  <a:srgbClr val="123C4A"/>
                </a:solidFill>
                <a:latin typeface="Calibri" pitchFamily="34" charset="0"/>
                <a:ea typeface="Calibri" pitchFamily="34" charset="-122"/>
                <a:cs typeface="Calibri" pitchFamily="34" charset="-120"/>
              </a:rPr>
              <a:t>54.1%
</a:t>
            </a:r>
            <a:endParaRPr lang="en-US" sz="1100" dirty="0"/>
          </a:p>
          <a:p>
            <a:pPr indent="0" marL="0">
              <a:lnSpc>
                <a:spcPct val="120000"/>
              </a:lnSpc>
              <a:buNone/>
            </a:pPr>
            <a:r>
              <a:rPr lang="en-US" sz="1100" dirty="0">
                <a:solidFill>
                  <a:srgbClr val="132B31"/>
                </a:solidFill>
                <a:latin typeface="Calibri" pitchFamily="34" charset="0"/>
                <a:ea typeface="Calibri" pitchFamily="34" charset="-122"/>
                <a:cs typeface="Calibri" pitchFamily="34" charset="-120"/>
              </a:rPr>
              <a:t>Model test accuracy: </a:t>
            </a:r>
            <a:pPr indent="0" marL="0">
              <a:lnSpc>
                <a:spcPct val="120000"/>
              </a:lnSpc>
              <a:buNone/>
            </a:pPr>
            <a:r>
              <a:rPr lang="en-US" sz="1100" b="1" dirty="0">
                <a:solidFill>
                  <a:srgbClr val="2E9E6B"/>
                </a:solidFill>
                <a:latin typeface="Calibri" pitchFamily="34" charset="0"/>
                <a:ea typeface="Calibri" pitchFamily="34" charset="-122"/>
                <a:cs typeface="Calibri" pitchFamily="34" charset="-120"/>
              </a:rPr>
              <a:t>77.0%
</a:t>
            </a:r>
            <a:endParaRPr lang="en-US" sz="1100" dirty="0"/>
          </a:p>
          <a:p>
            <a:pPr indent="0" marL="0">
              <a:lnSpc>
                <a:spcPct val="120000"/>
              </a:lnSpc>
              <a:buNone/>
            </a:pPr>
            <a:r>
              <a:rPr lang="en-US" sz="1050" dirty="0">
                <a:solidFill>
                  <a:srgbClr val="132B31"/>
                </a:solidFill>
                <a:latin typeface="Calibri" pitchFamily="34" charset="0"/>
                <a:ea typeface="Calibri" pitchFamily="34" charset="-122"/>
                <a:cs typeface="Calibri" pitchFamily="34" charset="-120"/>
              </a:rPr>
              <a:t>On two real held-out patients, predicted risk was </a:t>
            </a:r>
            <a:pPr indent="0" marL="0">
              <a:lnSpc>
                <a:spcPct val="120000"/>
              </a:lnSpc>
              <a:buNone/>
            </a:pPr>
            <a:r>
              <a:rPr lang="en-US" sz="1050" b="1" dirty="0">
                <a:solidFill>
                  <a:srgbClr val="2E9E6B"/>
                </a:solidFill>
                <a:latin typeface="Calibri" pitchFamily="34" charset="0"/>
                <a:ea typeface="Calibri" pitchFamily="34" charset="-122"/>
                <a:cs typeface="Calibri" pitchFamily="34" charset="-120"/>
              </a:rPr>
              <a:t>9.6%</a:t>
            </a:r>
            <a:pPr indent="0" marL="0">
              <a:lnSpc>
                <a:spcPct val="120000"/>
              </a:lnSpc>
              <a:buNone/>
            </a:pPr>
            <a:r>
              <a:rPr lang="en-US" sz="1050" dirty="0">
                <a:solidFill>
                  <a:srgbClr val="132B31"/>
                </a:solidFill>
                <a:latin typeface="Calibri" pitchFamily="34" charset="0"/>
                <a:ea typeface="Calibri" pitchFamily="34" charset="-122"/>
                <a:cs typeface="Calibri" pitchFamily="34" charset="-120"/>
              </a:rPr>
              <a:t> (confirmed no disease) vs. </a:t>
            </a:r>
            <a:pPr indent="0" marL="0">
              <a:lnSpc>
                <a:spcPct val="120000"/>
              </a:lnSpc>
              <a:buNone/>
            </a:pPr>
            <a:r>
              <a:rPr lang="en-US" sz="1050" b="1" dirty="0">
                <a:solidFill>
                  <a:srgbClr val="E4572E"/>
                </a:solidFill>
                <a:latin typeface="Calibri" pitchFamily="34" charset="0"/>
                <a:ea typeface="Calibri" pitchFamily="34" charset="-122"/>
                <a:cs typeface="Calibri" pitchFamily="34" charset="-120"/>
              </a:rPr>
              <a:t>91.3%</a:t>
            </a:r>
            <a:pPr indent="0" marL="0">
              <a:lnSpc>
                <a:spcPct val="120000"/>
              </a:lnSpc>
              <a:buNone/>
            </a:pPr>
            <a:r>
              <a:rPr lang="en-US" sz="1050" dirty="0">
                <a:solidFill>
                  <a:srgbClr val="132B31"/>
                </a:solidFill>
                <a:latin typeface="Calibri" pitchFamily="34" charset="0"/>
                <a:ea typeface="Calibri" pitchFamily="34" charset="-122"/>
                <a:cs typeface="Calibri" pitchFamily="34" charset="-120"/>
              </a:rPr>
              <a:t> (confirmed disease).</a:t>
            </a:r>
            <a:endParaRPr lang="en-US" sz="1100" dirty="0"/>
          </a:p>
        </p:txBody>
      </p:sp>
      <p:sp>
        <p:nvSpPr>
          <p:cNvPr id="20" name="Shape 17"/>
          <p:cNvSpPr/>
          <p:nvPr/>
        </p:nvSpPr>
        <p:spPr>
          <a:xfrm>
            <a:off x="548640" y="5623560"/>
            <a:ext cx="8092440" cy="731520"/>
          </a:xfrm>
          <a:prstGeom prst="roundRect">
            <a:avLst>
              <a:gd name="adj" fmla="val 12500"/>
            </a:avLst>
          </a:prstGeom>
          <a:solidFill>
            <a:srgbClr val="EAF3F1"/>
          </a:solidFill>
          <a:ln/>
        </p:spPr>
      </p:sp>
      <p:sp>
        <p:nvSpPr>
          <p:cNvPr id="21" name="Text 18"/>
          <p:cNvSpPr txBox="1"/>
          <p:nvPr/>
        </p:nvSpPr>
        <p:spPr>
          <a:xfrm>
            <a:off x="777240" y="5623560"/>
            <a:ext cx="7680960" cy="731520"/>
          </a:xfrm>
          <a:prstGeom prst="rect">
            <a:avLst/>
          </a:prstGeom>
          <a:noFill/>
          <a:ln/>
        </p:spPr>
        <p:txBody>
          <a:bodyPr wrap="square" rtlCol="0" anchor="ctr"/>
          <a:lstStyle/>
          <a:p>
            <a:pPr indent="0" marL="0">
              <a:buNone/>
            </a:pPr>
            <a:r>
              <a:rPr lang="en-US" sz="1100" b="1" dirty="0">
                <a:solidFill>
                  <a:srgbClr val="123C4A"/>
                </a:solidFill>
                <a:latin typeface="Calibri" pitchFamily="34" charset="0"/>
                <a:ea typeface="Calibri" pitchFamily="34" charset="-122"/>
                <a:cs typeface="Calibri" pitchFamily="34" charset="-120"/>
              </a:rPr>
              <a:t>Per-class (test set):  </a:t>
            </a:r>
            <a:pPr indent="0" marL="0">
              <a:buNone/>
            </a:pPr>
            <a:r>
              <a:rPr lang="en-US" sz="1100" dirty="0">
                <a:solidFill>
                  <a:srgbClr val="132B31"/>
                </a:solidFill>
                <a:latin typeface="Calibri" pitchFamily="34" charset="0"/>
                <a:ea typeface="Calibri" pitchFamily="34" charset="-122"/>
                <a:cs typeface="Calibri" pitchFamily="34" charset="-120"/>
              </a:rPr>
              <a:t>No Disease — precision 0.79, recall 0.68, F1 0.73     </a:t>
            </a:r>
            <a:pPr indent="0" marL="0">
              <a:buNone/>
            </a:pPr>
            <a:r>
              <a:rPr lang="en-US" sz="1100" dirty="0">
                <a:solidFill>
                  <a:srgbClr val="132B31"/>
                </a:solidFill>
                <a:latin typeface="Calibri" pitchFamily="34" charset="0"/>
                <a:ea typeface="Calibri" pitchFamily="34" charset="-122"/>
                <a:cs typeface="Calibri" pitchFamily="34" charset="-120"/>
              </a:rPr>
              <a:t>Disease — precision 0.76, recall 0.85, F1 0.80</a:t>
            </a:r>
            <a:endParaRPr lang="en-US" sz="1100" dirty="0"/>
          </a:p>
        </p:txBody>
      </p:sp>
      <p:sp>
        <p:nvSpPr>
          <p:cNvPr id="22" name="Text 19"/>
          <p:cNvSpPr/>
          <p:nvPr/>
        </p:nvSpPr>
        <p:spPr>
          <a:xfrm>
            <a:off x="457200" y="6492240"/>
            <a:ext cx="5486400" cy="274320"/>
          </a:xfrm>
          <a:prstGeom prst="rect">
            <a:avLst/>
          </a:prstGeom>
          <a:noFill/>
          <a:ln/>
        </p:spPr>
        <p:txBody>
          <a:bodyPr wrap="square" rtlCol="0" anchor="ctr"/>
          <a:lstStyle/>
          <a:p>
            <a:pPr indent="0" marL="0">
              <a:buNone/>
            </a:pPr>
            <a:r>
              <a:rPr lang="en-US" sz="900" dirty="0">
                <a:solidFill>
                  <a:srgbClr val="5B7A78"/>
                </a:solidFill>
                <a:latin typeface="Calibri" pitchFamily="34" charset="0"/>
                <a:ea typeface="Calibri" pitchFamily="34" charset="-122"/>
                <a:cs typeface="Calibri" pitchFamily="34" charset="-120"/>
              </a:rPr>
              <a:t>CardioGuard — SMLC Mini Project</a:t>
            </a:r>
            <a:endParaRPr lang="en-US" sz="900" dirty="0"/>
          </a:p>
        </p:txBody>
      </p:sp>
      <p:sp>
        <p:nvSpPr>
          <p:cNvPr id="23" name="Text 20"/>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7A7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515600" cy="594360"/>
          </a:xfrm>
          <a:prstGeom prst="rect">
            <a:avLst/>
          </a:prstGeom>
          <a:noFill/>
          <a:ln/>
        </p:spPr>
        <p:txBody>
          <a:bodyPr wrap="square" rtlCol="0" anchor="ctr"/>
          <a:lstStyle/>
          <a:p>
            <a:pPr indent="0" marL="0">
              <a:buNone/>
            </a:pPr>
            <a:r>
              <a:rPr lang="en-US" sz="2700" b="1" dirty="0">
                <a:solidFill>
                  <a:srgbClr val="123C4A"/>
                </a:solidFill>
                <a:latin typeface="Cambria" pitchFamily="34" charset="0"/>
                <a:ea typeface="Cambria" pitchFamily="34" charset="-122"/>
                <a:cs typeface="Cambria" pitchFamily="34" charset="-120"/>
              </a:rPr>
              <a:t>Explainability: Why the Model Decided</a:t>
            </a:r>
            <a:endParaRPr lang="en-US" sz="2700" dirty="0"/>
          </a:p>
        </p:txBody>
      </p:sp>
      <p:sp>
        <p:nvSpPr>
          <p:cNvPr id="3" name="Text 1"/>
          <p:cNvSpPr txBox="1"/>
          <p:nvPr/>
        </p:nvSpPr>
        <p:spPr>
          <a:xfrm>
            <a:off x="548640" y="960120"/>
            <a:ext cx="10972800" cy="365760"/>
          </a:xfrm>
          <a:prstGeom prst="rect">
            <a:avLst/>
          </a:prstGeom>
          <a:noFill/>
          <a:ln/>
        </p:spPr>
        <p:txBody>
          <a:bodyPr wrap="square" rtlCol="0" anchor="ctr"/>
          <a:lstStyle/>
          <a:p>
            <a:pPr indent="0" marL="0">
              <a:buNone/>
            </a:pPr>
            <a:r>
              <a:rPr lang="en-US" sz="1300" dirty="0">
                <a:solidFill>
                  <a:srgbClr val="5B7A78"/>
                </a:solidFill>
                <a:latin typeface="Calibri" pitchFamily="34" charset="0"/>
                <a:ea typeface="Calibri" pitchFamily="34" charset="-122"/>
                <a:cs typeface="Calibri" pitchFamily="34" charset="-120"/>
              </a:rPr>
              <a:t>Two complementary techniques give both a global and a per-patient view of the model's reasoning</a:t>
            </a:r>
            <a:endParaRPr lang="en-US" sz="1300" dirty="0"/>
          </a:p>
        </p:txBody>
      </p:sp>
      <p:sp>
        <p:nvSpPr>
          <p:cNvPr id="4" name="Text 2"/>
          <p:cNvSpPr txBox="1"/>
          <p:nvPr/>
        </p:nvSpPr>
        <p:spPr>
          <a:xfrm>
            <a:off x="548640" y="1463040"/>
            <a:ext cx="5486400" cy="365760"/>
          </a:xfrm>
          <a:prstGeom prst="rect">
            <a:avLst/>
          </a:prstGeom>
          <a:noFill/>
          <a:ln/>
        </p:spPr>
        <p:txBody>
          <a:bodyPr wrap="square" rtlCol="0" anchor="ctr"/>
          <a:lstStyle/>
          <a:p>
            <a:pPr indent="0" marL="0">
              <a:buNone/>
            </a:pPr>
            <a:r>
              <a:rPr lang="en-US" sz="1400" b="1" dirty="0">
                <a:solidFill>
                  <a:srgbClr val="123C4A"/>
                </a:solidFill>
                <a:latin typeface="Calibri" pitchFamily="34" charset="0"/>
                <a:ea typeface="Calibri" pitchFamily="34" charset="-122"/>
                <a:cs typeface="Calibri" pitchFamily="34" charset="-120"/>
              </a:rPr>
              <a:t>Global — Permutation Importance</a:t>
            </a:r>
            <a:endParaRPr lang="en-US" sz="1400" dirty="0"/>
          </a:p>
        </p:txBody>
      </p:sp>
      <p:graphicFrame>
        <p:nvGraphicFramePr>
          <p:cNvPr id="5" name="Chart 0" descr=""/>
          <p:cNvGraphicFramePr/>
          <p:nvPr/>
        </p:nvGraphicFramePr>
        <p:xfrm>
          <a:off x="548640" y="1874520"/>
          <a:ext cx="5577840" cy="35661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492240" y="1463040"/>
            <a:ext cx="5120640" cy="365760"/>
          </a:xfrm>
          <a:prstGeom prst="rect">
            <a:avLst/>
          </a:prstGeom>
          <a:noFill/>
          <a:ln/>
        </p:spPr>
        <p:txBody>
          <a:bodyPr wrap="square" rtlCol="0" anchor="ctr"/>
          <a:lstStyle/>
          <a:p>
            <a:pPr indent="0" marL="0">
              <a:buNone/>
            </a:pPr>
            <a:r>
              <a:rPr lang="en-US" sz="1400" b="1" dirty="0">
                <a:solidFill>
                  <a:srgbClr val="123C4A"/>
                </a:solidFill>
                <a:latin typeface="Calibri" pitchFamily="34" charset="0"/>
                <a:ea typeface="Calibri" pitchFamily="34" charset="-122"/>
                <a:cs typeface="Calibri" pitchFamily="34" charset="-120"/>
              </a:rPr>
              <a:t>Local — Per-Patient SHAP Values</a:t>
            </a:r>
            <a:endParaRPr lang="en-US" sz="1400" dirty="0"/>
          </a:p>
        </p:txBody>
      </p:sp>
      <p:sp>
        <p:nvSpPr>
          <p:cNvPr id="7" name="Shape 4"/>
          <p:cNvSpPr/>
          <p:nvPr/>
        </p:nvSpPr>
        <p:spPr>
          <a:xfrm>
            <a:off x="6492240" y="1874520"/>
            <a:ext cx="5120640" cy="3566160"/>
          </a:xfrm>
          <a:prstGeom prst="roundRect">
            <a:avLst>
              <a:gd name="adj" fmla="val 3077"/>
            </a:avLst>
          </a:prstGeom>
          <a:solidFill>
            <a:srgbClr val="EAF3F1"/>
          </a:solidFill>
          <a:ln/>
        </p:spPr>
      </p:sp>
      <p:sp>
        <p:nvSpPr>
          <p:cNvPr id="8" name="Shape 5"/>
          <p:cNvSpPr/>
          <p:nvPr/>
        </p:nvSpPr>
        <p:spPr>
          <a:xfrm>
            <a:off x="6766560" y="2103120"/>
            <a:ext cx="566928" cy="566928"/>
          </a:xfrm>
          <a:prstGeom prst="ellipse">
            <a:avLst/>
          </a:prstGeom>
          <a:solidFill>
            <a:srgbClr val="123C4A"/>
          </a:solidFill>
          <a:ln/>
        </p:spPr>
      </p:sp>
      <p:pic>
        <p:nvPicPr>
          <p:cNvPr id="9" name="Image 0" descr="icon_brain.png">    </p:cNvPr>
          <p:cNvPicPr>
            <a:picLocks noChangeAspect="1"/>
          </p:cNvPicPr>
          <p:nvPr/>
        </p:nvPicPr>
        <p:blipFill>
          <a:blip r:embed="rId2"/>
          <a:stretch>
            <a:fillRect/>
          </a:stretch>
        </p:blipFill>
        <p:spPr>
          <a:xfrm>
            <a:off x="6902623" y="2239183"/>
            <a:ext cx="294803" cy="294803"/>
          </a:xfrm>
          <a:prstGeom prst="rect">
            <a:avLst/>
          </a:prstGeom>
        </p:spPr>
      </p:pic>
      <p:sp>
        <p:nvSpPr>
          <p:cNvPr id="10" name="Text 6"/>
          <p:cNvSpPr txBox="1"/>
          <p:nvPr/>
        </p:nvSpPr>
        <p:spPr>
          <a:xfrm>
            <a:off x="7498080" y="2121408"/>
            <a:ext cx="3931920" cy="1051560"/>
          </a:xfrm>
          <a:prstGeom prst="rect">
            <a:avLst/>
          </a:prstGeom>
          <a:noFill/>
          <a:ln/>
        </p:spPr>
        <p:txBody>
          <a:bodyPr wrap="square" rtlCol="0" anchor="ctr"/>
          <a:lstStyle/>
          <a:p>
            <a:pPr indent="0" marL="0">
              <a:lnSpc>
                <a:spcPct val="120000"/>
              </a:lnSpc>
              <a:buNone/>
            </a:pPr>
            <a:r>
              <a:rPr lang="en-US" sz="1100" dirty="0">
                <a:solidFill>
                  <a:srgbClr val="132B31"/>
                </a:solidFill>
                <a:latin typeface="Calibri" pitchFamily="34" charset="0"/>
                <a:ea typeface="Calibri" pitchFamily="34" charset="-122"/>
                <a:cs typeface="Calibri" pitchFamily="34" charset="-120"/>
              </a:rPr>
              <a:t>shap.TreeExplainer on the tuned Random Forest component gives fast, exact SHAP values — used as a stand-in for the deployed stacking ensemble.</a:t>
            </a:r>
            <a:endParaRPr lang="en-US" sz="1100" dirty="0"/>
          </a:p>
        </p:txBody>
      </p:sp>
      <p:sp>
        <p:nvSpPr>
          <p:cNvPr id="11" name="Text 7"/>
          <p:cNvSpPr txBox="1"/>
          <p:nvPr/>
        </p:nvSpPr>
        <p:spPr>
          <a:xfrm>
            <a:off x="6766560" y="3337560"/>
            <a:ext cx="4572000" cy="1965960"/>
          </a:xfrm>
          <a:prstGeom prst="rect">
            <a:avLst/>
          </a:prstGeom>
          <a:noFill/>
          <a:ln/>
        </p:spPr>
        <p:txBody>
          <a:bodyPr wrap="square" rtlCol="0" anchor="ctr"/>
          <a:lstStyle/>
          <a:p>
            <a:pPr indent="0" marL="0">
              <a:lnSpc>
                <a:spcPct val="125000"/>
              </a:lnSpc>
              <a:buNone/>
            </a:pPr>
            <a:r>
              <a:rPr lang="en-US" sz="1150" b="1" dirty="0">
                <a:solidFill>
                  <a:srgbClr val="123C4A"/>
                </a:solidFill>
                <a:latin typeface="Calibri" pitchFamily="34" charset="0"/>
                <a:ea typeface="Calibri" pitchFamily="34" charset="-122"/>
                <a:cs typeface="Calibri" pitchFamily="34" charset="-120"/>
              </a:rPr>
              <a:t>ca and thal</a:t>
            </a:r>
            <a:pPr indent="0" marL="0">
              <a:lnSpc>
                <a:spcPct val="125000"/>
              </a:lnSpc>
              <a:buNone/>
            </a:pPr>
            <a:r>
              <a:rPr lang="en-US" sz="1150" dirty="0">
                <a:solidFill>
                  <a:srgbClr val="132B31"/>
                </a:solidFill>
                <a:latin typeface="Calibri" pitchFamily="34" charset="0"/>
                <a:ea typeface="Calibri" pitchFamily="34" charset="-122"/>
                <a:cs typeface="Calibri" pitchFamily="34" charset="-120"/>
              </a:rPr>
              <a:t> (major vessels colored, thalassemia result) dominate global importance — consistent with known cardiology risk markers.
</a:t>
            </a:r>
            <a:pPr indent="0" marL="0">
              <a:lnSpc>
                <a:spcPct val="125000"/>
              </a:lnSpc>
              <a:buNone/>
            </a:pPr>
            <a:r>
              <a:rPr lang="en-US" sz="1150" dirty="0">
                <a:solidFill>
                  <a:srgbClr val="132B31"/>
                </a:solidFill>
                <a:latin typeface="Calibri" pitchFamily="34" charset="0"/>
                <a:ea typeface="Calibri" pitchFamily="34" charset="-122"/>
                <a:cs typeface="Calibri" pitchFamily="34" charset="-120"/>
              </a:rPr>
              <a:t>For each patient, the dashboard surfaces the top 4–5 SHAP factors pushing predicted risk up or down — e.g. </a:t>
            </a:r>
            <a:pPr indent="0" marL="0">
              <a:lnSpc>
                <a:spcPct val="125000"/>
              </a:lnSpc>
              <a:buNone/>
            </a:pPr>
            <a:r>
              <a:rPr lang="en-US" sz="1150" b="1" dirty="0">
                <a:solidFill>
                  <a:srgbClr val="E4572E"/>
                </a:solidFill>
                <a:latin typeface="Calibri" pitchFamily="34" charset="0"/>
                <a:ea typeface="Calibri" pitchFamily="34" charset="-122"/>
                <a:cs typeface="Calibri" pitchFamily="34" charset="-120"/>
              </a:rPr>
              <a:t>⬆️ thal pushes risk UP (SHAP = +0.18)</a:t>
            </a:r>
            <a:pPr indent="0" marL="0">
              <a:lnSpc>
                <a:spcPct val="125000"/>
              </a:lnSpc>
              <a:buNone/>
            </a:pPr>
            <a:r>
              <a:rPr lang="en-US" sz="1150" dirty="0">
                <a:solidFill>
                  <a:srgbClr val="132B31"/>
                </a:solidFill>
                <a:latin typeface="Calibri" pitchFamily="34" charset="0"/>
                <a:ea typeface="Calibri" pitchFamily="34" charset="-122"/>
                <a:cs typeface="Calibri" pitchFamily="34" charset="-120"/>
              </a:rPr>
              <a:t>.</a:t>
            </a:r>
            <a:endParaRPr lang="en-US" sz="1150" dirty="0"/>
          </a:p>
        </p:txBody>
      </p:sp>
      <p:sp>
        <p:nvSpPr>
          <p:cNvPr id="12" name="Text 8"/>
          <p:cNvSpPr/>
          <p:nvPr/>
        </p:nvSpPr>
        <p:spPr>
          <a:xfrm>
            <a:off x="457200" y="6492240"/>
            <a:ext cx="5486400" cy="274320"/>
          </a:xfrm>
          <a:prstGeom prst="rect">
            <a:avLst/>
          </a:prstGeom>
          <a:noFill/>
          <a:ln/>
        </p:spPr>
        <p:txBody>
          <a:bodyPr wrap="square" rtlCol="0" anchor="ctr"/>
          <a:lstStyle/>
          <a:p>
            <a:pPr indent="0" marL="0">
              <a:buNone/>
            </a:pPr>
            <a:r>
              <a:rPr lang="en-US" sz="900" dirty="0">
                <a:solidFill>
                  <a:srgbClr val="5B7A78"/>
                </a:solidFill>
                <a:latin typeface="Calibri" pitchFamily="34" charset="0"/>
                <a:ea typeface="Calibri" pitchFamily="34" charset="-122"/>
                <a:cs typeface="Calibri" pitchFamily="34" charset="-120"/>
              </a:rPr>
              <a:t>CardioGuard — SMLC Mini Project</a:t>
            </a:r>
            <a:endParaRPr lang="en-US" sz="900" dirty="0"/>
          </a:p>
        </p:txBody>
      </p:sp>
      <p:sp>
        <p:nvSpPr>
          <p:cNvPr id="13" name="Text 9"/>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7A7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515600" cy="594360"/>
          </a:xfrm>
          <a:prstGeom prst="rect">
            <a:avLst/>
          </a:prstGeom>
          <a:noFill/>
          <a:ln/>
        </p:spPr>
        <p:txBody>
          <a:bodyPr wrap="square" rtlCol="0" anchor="ctr"/>
          <a:lstStyle/>
          <a:p>
            <a:pPr indent="0" marL="0">
              <a:buNone/>
            </a:pPr>
            <a:r>
              <a:rPr lang="en-US" sz="2800" b="1" dirty="0">
                <a:solidFill>
                  <a:srgbClr val="123C4A"/>
                </a:solidFill>
                <a:latin typeface="Cambria" pitchFamily="34" charset="0"/>
                <a:ea typeface="Cambria" pitchFamily="34" charset="-122"/>
                <a:cs typeface="Cambria" pitchFamily="34" charset="-120"/>
              </a:rPr>
              <a:t>Interactive Clinical Risk Dashboard</a:t>
            </a:r>
            <a:endParaRPr lang="en-US" sz="2800" dirty="0"/>
          </a:p>
        </p:txBody>
      </p:sp>
      <p:sp>
        <p:nvSpPr>
          <p:cNvPr id="3" name="Text 1"/>
          <p:cNvSpPr txBox="1"/>
          <p:nvPr/>
        </p:nvSpPr>
        <p:spPr>
          <a:xfrm>
            <a:off x="548640" y="960120"/>
            <a:ext cx="10972800" cy="365760"/>
          </a:xfrm>
          <a:prstGeom prst="rect">
            <a:avLst/>
          </a:prstGeom>
          <a:noFill/>
          <a:ln/>
        </p:spPr>
        <p:txBody>
          <a:bodyPr wrap="square" rtlCol="0" anchor="ctr"/>
          <a:lstStyle/>
          <a:p>
            <a:pPr indent="0" marL="0">
              <a:buNone/>
            </a:pPr>
            <a:r>
              <a:rPr lang="en-US" sz="1300" dirty="0">
                <a:solidFill>
                  <a:srgbClr val="5B7A78"/>
                </a:solidFill>
                <a:latin typeface="Calibri" pitchFamily="34" charset="0"/>
                <a:ea typeface="Calibri" pitchFamily="34" charset="-122"/>
                <a:cs typeface="Calibri" pitchFamily="34" charset="-120"/>
              </a:rPr>
              <a:t>The trained Pipeline is shipped to two live front-ends sharing one artifact</a:t>
            </a:r>
            <a:endParaRPr lang="en-US" sz="1300" dirty="0"/>
          </a:p>
        </p:txBody>
      </p:sp>
      <p:sp>
        <p:nvSpPr>
          <p:cNvPr id="4" name="Shape 2"/>
          <p:cNvSpPr/>
          <p:nvPr/>
        </p:nvSpPr>
        <p:spPr>
          <a:xfrm>
            <a:off x="548640" y="1600200"/>
            <a:ext cx="5349240" cy="4251960"/>
          </a:xfrm>
          <a:prstGeom prst="roundRect">
            <a:avLst>
              <a:gd name="adj" fmla="val 2581"/>
            </a:avLst>
          </a:prstGeom>
          <a:solidFill>
            <a:srgbClr val="EAF3F1"/>
          </a:solidFill>
          <a:ln w="12700">
            <a:solidFill>
              <a:srgbClr val="C9DEDA"/>
            </a:solidFill>
            <a:prstDash val="solid"/>
          </a:ln>
        </p:spPr>
      </p:sp>
      <p:sp>
        <p:nvSpPr>
          <p:cNvPr id="5" name="Shape 3"/>
          <p:cNvSpPr/>
          <p:nvPr/>
        </p:nvSpPr>
        <p:spPr>
          <a:xfrm>
            <a:off x="777240" y="1828800"/>
            <a:ext cx="4892040" cy="457200"/>
          </a:xfrm>
          <a:prstGeom prst="roundRect">
            <a:avLst>
              <a:gd name="adj" fmla="val 16000"/>
            </a:avLst>
          </a:prstGeom>
          <a:solidFill>
            <a:srgbClr val="FFFFFF"/>
          </a:solidFill>
          <a:ln/>
        </p:spPr>
      </p:sp>
      <p:sp>
        <p:nvSpPr>
          <p:cNvPr id="6" name="Shape 4"/>
          <p:cNvSpPr/>
          <p:nvPr/>
        </p:nvSpPr>
        <p:spPr>
          <a:xfrm>
            <a:off x="914400" y="1965960"/>
            <a:ext cx="164592" cy="164592"/>
          </a:xfrm>
          <a:prstGeom prst="ellipse">
            <a:avLst/>
          </a:prstGeom>
          <a:solidFill>
            <a:srgbClr val="E4572E"/>
          </a:solidFill>
          <a:ln/>
        </p:spPr>
      </p:sp>
      <p:sp>
        <p:nvSpPr>
          <p:cNvPr id="7" name="Shape 5"/>
          <p:cNvSpPr/>
          <p:nvPr/>
        </p:nvSpPr>
        <p:spPr>
          <a:xfrm>
            <a:off x="1143000" y="1965960"/>
            <a:ext cx="164592" cy="164592"/>
          </a:xfrm>
          <a:prstGeom prst="ellipse">
            <a:avLst/>
          </a:prstGeom>
          <a:solidFill>
            <a:srgbClr val="F2B705"/>
          </a:solidFill>
          <a:ln/>
        </p:spPr>
      </p:sp>
      <p:sp>
        <p:nvSpPr>
          <p:cNvPr id="8" name="Shape 6"/>
          <p:cNvSpPr/>
          <p:nvPr/>
        </p:nvSpPr>
        <p:spPr>
          <a:xfrm>
            <a:off x="1371600" y="1965960"/>
            <a:ext cx="164592" cy="164592"/>
          </a:xfrm>
          <a:prstGeom prst="ellipse">
            <a:avLst/>
          </a:prstGeom>
          <a:solidFill>
            <a:srgbClr val="2E9E6B"/>
          </a:solidFill>
          <a:ln/>
        </p:spPr>
      </p:sp>
      <p:sp>
        <p:nvSpPr>
          <p:cNvPr id="9" name="Text 7"/>
          <p:cNvSpPr txBox="1"/>
          <p:nvPr/>
        </p:nvSpPr>
        <p:spPr>
          <a:xfrm>
            <a:off x="777240" y="2468880"/>
            <a:ext cx="4892040" cy="365760"/>
          </a:xfrm>
          <a:prstGeom prst="rect">
            <a:avLst/>
          </a:prstGeom>
          <a:noFill/>
          <a:ln/>
        </p:spPr>
        <p:txBody>
          <a:bodyPr wrap="square" rtlCol="0" anchor="ctr"/>
          <a:lstStyle/>
          <a:p>
            <a:pPr indent="0" marL="0">
              <a:buNone/>
            </a:pPr>
            <a:r>
              <a:rPr lang="en-US" sz="1500" b="1" dirty="0">
                <a:solidFill>
                  <a:srgbClr val="123C4A"/>
                </a:solidFill>
                <a:latin typeface="Calibri" pitchFamily="34" charset="0"/>
                <a:ea typeface="Calibri" pitchFamily="34" charset="-122"/>
                <a:cs typeface="Calibri" pitchFamily="34" charset="-120"/>
              </a:rPr>
              <a:t>❤️ CardioGuard Risk Calculator</a:t>
            </a:r>
            <a:endParaRPr lang="en-US" sz="1500" dirty="0"/>
          </a:p>
        </p:txBody>
      </p:sp>
      <p:sp>
        <p:nvSpPr>
          <p:cNvPr id="10" name="Text 8"/>
          <p:cNvSpPr txBox="1"/>
          <p:nvPr/>
        </p:nvSpPr>
        <p:spPr>
          <a:xfrm>
            <a:off x="777240" y="2834640"/>
            <a:ext cx="4892040" cy="274320"/>
          </a:xfrm>
          <a:prstGeom prst="rect">
            <a:avLst/>
          </a:prstGeom>
          <a:noFill/>
          <a:ln/>
        </p:spPr>
        <p:txBody>
          <a:bodyPr wrap="square" rtlCol="0" anchor="ctr"/>
          <a:lstStyle/>
          <a:p>
            <a:pPr indent="0" marL="0">
              <a:buNone/>
            </a:pPr>
            <a:r>
              <a:rPr lang="en-US" sz="1050" i="1" dirty="0">
                <a:solidFill>
                  <a:srgbClr val="5B7A78"/>
                </a:solidFill>
                <a:latin typeface="Calibri" pitchFamily="34" charset="0"/>
                <a:ea typeface="Calibri" pitchFamily="34" charset="-122"/>
                <a:cs typeface="Calibri" pitchFamily="34" charset="-120"/>
              </a:rPr>
              <a:t>Streamlit web app — app.py</a:t>
            </a:r>
            <a:endParaRPr lang="en-US" sz="1050" dirty="0"/>
          </a:p>
        </p:txBody>
      </p:sp>
      <p:sp>
        <p:nvSpPr>
          <p:cNvPr id="11" name="Text 9"/>
          <p:cNvSpPr txBox="1"/>
          <p:nvPr/>
        </p:nvSpPr>
        <p:spPr>
          <a:xfrm>
            <a:off x="868680" y="3246120"/>
            <a:ext cx="2377440" cy="320040"/>
          </a:xfrm>
          <a:prstGeom prst="rect">
            <a:avLst/>
          </a:prstGeom>
          <a:noFill/>
          <a:ln/>
        </p:spPr>
        <p:txBody>
          <a:bodyPr wrap="square" rtlCol="0" anchor="ctr"/>
          <a:lstStyle/>
          <a:p>
            <a:pPr indent="0" marL="0">
              <a:buNone/>
            </a:pPr>
            <a:r>
              <a:rPr lang="en-US" sz="1050" dirty="0">
                <a:solidFill>
                  <a:srgbClr val="132B31"/>
                </a:solidFill>
                <a:latin typeface="Calibri" pitchFamily="34" charset="0"/>
                <a:ea typeface="Calibri" pitchFamily="34" charset="-122"/>
                <a:cs typeface="Calibri" pitchFamily="34" charset="-120"/>
              </a:rPr>
              <a:t>Age</a:t>
            </a:r>
            <a:endParaRPr lang="en-US" sz="1050" dirty="0"/>
          </a:p>
        </p:txBody>
      </p:sp>
      <p:sp>
        <p:nvSpPr>
          <p:cNvPr id="12" name="Shape 10"/>
          <p:cNvSpPr/>
          <p:nvPr/>
        </p:nvSpPr>
        <p:spPr>
          <a:xfrm>
            <a:off x="3291840" y="3273552"/>
            <a:ext cx="2194560" cy="256032"/>
          </a:xfrm>
          <a:prstGeom prst="roundRect">
            <a:avLst>
              <a:gd name="adj" fmla="val 50000"/>
            </a:avLst>
          </a:prstGeom>
          <a:solidFill>
            <a:srgbClr val="FFFFFF"/>
          </a:solidFill>
          <a:ln w="9525">
            <a:solidFill>
              <a:srgbClr val="C9DEDA"/>
            </a:solidFill>
            <a:prstDash val="solid"/>
          </a:ln>
        </p:spPr>
      </p:sp>
      <p:sp>
        <p:nvSpPr>
          <p:cNvPr id="13" name="Text 11"/>
          <p:cNvSpPr txBox="1"/>
          <p:nvPr/>
        </p:nvSpPr>
        <p:spPr>
          <a:xfrm>
            <a:off x="3291840" y="3264408"/>
            <a:ext cx="2194560" cy="274320"/>
          </a:xfrm>
          <a:prstGeom prst="rect">
            <a:avLst/>
          </a:prstGeom>
          <a:noFill/>
          <a:ln/>
        </p:spPr>
        <p:txBody>
          <a:bodyPr wrap="square" rtlCol="0" anchor="ctr"/>
          <a:lstStyle/>
          <a:p>
            <a:pPr algn="ctr" indent="0" marL="0">
              <a:buNone/>
            </a:pPr>
            <a:r>
              <a:rPr lang="en-US" sz="950" dirty="0">
                <a:solidFill>
                  <a:srgbClr val="123C4A"/>
                </a:solidFill>
                <a:latin typeface="Calibri" pitchFamily="34" charset="0"/>
                <a:ea typeface="Calibri" pitchFamily="34" charset="-122"/>
                <a:cs typeface="Calibri" pitchFamily="34" charset="-120"/>
              </a:rPr>
              <a:t>55</a:t>
            </a:r>
            <a:endParaRPr lang="en-US" sz="950" dirty="0"/>
          </a:p>
        </p:txBody>
      </p:sp>
      <p:sp>
        <p:nvSpPr>
          <p:cNvPr id="14" name="Text 12"/>
          <p:cNvSpPr txBox="1"/>
          <p:nvPr/>
        </p:nvSpPr>
        <p:spPr>
          <a:xfrm>
            <a:off x="868680" y="3630168"/>
            <a:ext cx="2377440" cy="320040"/>
          </a:xfrm>
          <a:prstGeom prst="rect">
            <a:avLst/>
          </a:prstGeom>
          <a:noFill/>
          <a:ln/>
        </p:spPr>
        <p:txBody>
          <a:bodyPr wrap="square" rtlCol="0" anchor="ctr"/>
          <a:lstStyle/>
          <a:p>
            <a:pPr indent="0" marL="0">
              <a:buNone/>
            </a:pPr>
            <a:r>
              <a:rPr lang="en-US" sz="1050" dirty="0">
                <a:solidFill>
                  <a:srgbClr val="132B31"/>
                </a:solidFill>
                <a:latin typeface="Calibri" pitchFamily="34" charset="0"/>
                <a:ea typeface="Calibri" pitchFamily="34" charset="-122"/>
                <a:cs typeface="Calibri" pitchFamily="34" charset="-120"/>
              </a:rPr>
              <a:t>Resting BP</a:t>
            </a:r>
            <a:endParaRPr lang="en-US" sz="1050" dirty="0"/>
          </a:p>
        </p:txBody>
      </p:sp>
      <p:sp>
        <p:nvSpPr>
          <p:cNvPr id="15" name="Shape 13"/>
          <p:cNvSpPr/>
          <p:nvPr/>
        </p:nvSpPr>
        <p:spPr>
          <a:xfrm>
            <a:off x="3291840" y="3657600"/>
            <a:ext cx="2194560" cy="256032"/>
          </a:xfrm>
          <a:prstGeom prst="roundRect">
            <a:avLst>
              <a:gd name="adj" fmla="val 50000"/>
            </a:avLst>
          </a:prstGeom>
          <a:solidFill>
            <a:srgbClr val="FFFFFF"/>
          </a:solidFill>
          <a:ln w="9525">
            <a:solidFill>
              <a:srgbClr val="C9DEDA"/>
            </a:solidFill>
            <a:prstDash val="solid"/>
          </a:ln>
        </p:spPr>
      </p:sp>
      <p:sp>
        <p:nvSpPr>
          <p:cNvPr id="16" name="Text 14"/>
          <p:cNvSpPr txBox="1"/>
          <p:nvPr/>
        </p:nvSpPr>
        <p:spPr>
          <a:xfrm>
            <a:off x="3291840" y="3648456"/>
            <a:ext cx="2194560" cy="274320"/>
          </a:xfrm>
          <a:prstGeom prst="rect">
            <a:avLst/>
          </a:prstGeom>
          <a:noFill/>
          <a:ln/>
        </p:spPr>
        <p:txBody>
          <a:bodyPr wrap="square" rtlCol="0" anchor="ctr"/>
          <a:lstStyle/>
          <a:p>
            <a:pPr algn="ctr" indent="0" marL="0">
              <a:buNone/>
            </a:pPr>
            <a:r>
              <a:rPr lang="en-US" sz="950" dirty="0">
                <a:solidFill>
                  <a:srgbClr val="123C4A"/>
                </a:solidFill>
                <a:latin typeface="Calibri" pitchFamily="34" charset="0"/>
                <a:ea typeface="Calibri" pitchFamily="34" charset="-122"/>
                <a:cs typeface="Calibri" pitchFamily="34" charset="-120"/>
              </a:rPr>
              <a:t>130 mm Hg</a:t>
            </a:r>
            <a:endParaRPr lang="en-US" sz="950" dirty="0"/>
          </a:p>
        </p:txBody>
      </p:sp>
      <p:sp>
        <p:nvSpPr>
          <p:cNvPr id="17" name="Text 15"/>
          <p:cNvSpPr txBox="1"/>
          <p:nvPr/>
        </p:nvSpPr>
        <p:spPr>
          <a:xfrm>
            <a:off x="868680" y="4014216"/>
            <a:ext cx="2377440" cy="320040"/>
          </a:xfrm>
          <a:prstGeom prst="rect">
            <a:avLst/>
          </a:prstGeom>
          <a:noFill/>
          <a:ln/>
        </p:spPr>
        <p:txBody>
          <a:bodyPr wrap="square" rtlCol="0" anchor="ctr"/>
          <a:lstStyle/>
          <a:p>
            <a:pPr indent="0" marL="0">
              <a:buNone/>
            </a:pPr>
            <a:r>
              <a:rPr lang="en-US" sz="1050" dirty="0">
                <a:solidFill>
                  <a:srgbClr val="132B31"/>
                </a:solidFill>
                <a:latin typeface="Calibri" pitchFamily="34" charset="0"/>
                <a:ea typeface="Calibri" pitchFamily="34" charset="-122"/>
                <a:cs typeface="Calibri" pitchFamily="34" charset="-120"/>
              </a:rPr>
              <a:t>Cholesterol</a:t>
            </a:r>
            <a:endParaRPr lang="en-US" sz="1050" dirty="0"/>
          </a:p>
        </p:txBody>
      </p:sp>
      <p:sp>
        <p:nvSpPr>
          <p:cNvPr id="18" name="Shape 16"/>
          <p:cNvSpPr/>
          <p:nvPr/>
        </p:nvSpPr>
        <p:spPr>
          <a:xfrm>
            <a:off x="3291840" y="4041648"/>
            <a:ext cx="2194560" cy="256032"/>
          </a:xfrm>
          <a:prstGeom prst="roundRect">
            <a:avLst>
              <a:gd name="adj" fmla="val 50000"/>
            </a:avLst>
          </a:prstGeom>
          <a:solidFill>
            <a:srgbClr val="FFFFFF"/>
          </a:solidFill>
          <a:ln w="9525">
            <a:solidFill>
              <a:srgbClr val="C9DEDA"/>
            </a:solidFill>
            <a:prstDash val="solid"/>
          </a:ln>
        </p:spPr>
      </p:sp>
      <p:sp>
        <p:nvSpPr>
          <p:cNvPr id="19" name="Text 17"/>
          <p:cNvSpPr txBox="1"/>
          <p:nvPr/>
        </p:nvSpPr>
        <p:spPr>
          <a:xfrm>
            <a:off x="3291840" y="4032504"/>
            <a:ext cx="2194560" cy="274320"/>
          </a:xfrm>
          <a:prstGeom prst="rect">
            <a:avLst/>
          </a:prstGeom>
          <a:noFill/>
          <a:ln/>
        </p:spPr>
        <p:txBody>
          <a:bodyPr wrap="square" rtlCol="0" anchor="ctr"/>
          <a:lstStyle/>
          <a:p>
            <a:pPr algn="ctr" indent="0" marL="0">
              <a:buNone/>
            </a:pPr>
            <a:r>
              <a:rPr lang="en-US" sz="950" dirty="0">
                <a:solidFill>
                  <a:srgbClr val="123C4A"/>
                </a:solidFill>
                <a:latin typeface="Calibri" pitchFamily="34" charset="0"/>
                <a:ea typeface="Calibri" pitchFamily="34" charset="-122"/>
                <a:cs typeface="Calibri" pitchFamily="34" charset="-120"/>
              </a:rPr>
              <a:t>240 mg/dl</a:t>
            </a:r>
            <a:endParaRPr lang="en-US" sz="950" dirty="0"/>
          </a:p>
        </p:txBody>
      </p:sp>
      <p:sp>
        <p:nvSpPr>
          <p:cNvPr id="20" name="Text 18"/>
          <p:cNvSpPr txBox="1"/>
          <p:nvPr/>
        </p:nvSpPr>
        <p:spPr>
          <a:xfrm>
            <a:off x="868680" y="4398264"/>
            <a:ext cx="2377440" cy="320040"/>
          </a:xfrm>
          <a:prstGeom prst="rect">
            <a:avLst/>
          </a:prstGeom>
          <a:noFill/>
          <a:ln/>
        </p:spPr>
        <p:txBody>
          <a:bodyPr wrap="square" rtlCol="0" anchor="ctr"/>
          <a:lstStyle/>
          <a:p>
            <a:pPr indent="0" marL="0">
              <a:buNone/>
            </a:pPr>
            <a:r>
              <a:rPr lang="en-US" sz="1050" dirty="0">
                <a:solidFill>
                  <a:srgbClr val="132B31"/>
                </a:solidFill>
                <a:latin typeface="Calibri" pitchFamily="34" charset="0"/>
                <a:ea typeface="Calibri" pitchFamily="34" charset="-122"/>
                <a:cs typeface="Calibri" pitchFamily="34" charset="-120"/>
              </a:rPr>
              <a:t>Max Heart Rate</a:t>
            </a:r>
            <a:endParaRPr lang="en-US" sz="1050" dirty="0"/>
          </a:p>
        </p:txBody>
      </p:sp>
      <p:sp>
        <p:nvSpPr>
          <p:cNvPr id="21" name="Shape 19"/>
          <p:cNvSpPr/>
          <p:nvPr/>
        </p:nvSpPr>
        <p:spPr>
          <a:xfrm>
            <a:off x="3291840" y="4425696"/>
            <a:ext cx="2194560" cy="256032"/>
          </a:xfrm>
          <a:prstGeom prst="roundRect">
            <a:avLst>
              <a:gd name="adj" fmla="val 50000"/>
            </a:avLst>
          </a:prstGeom>
          <a:solidFill>
            <a:srgbClr val="FFFFFF"/>
          </a:solidFill>
          <a:ln w="9525">
            <a:solidFill>
              <a:srgbClr val="C9DEDA"/>
            </a:solidFill>
            <a:prstDash val="solid"/>
          </a:ln>
        </p:spPr>
      </p:sp>
      <p:sp>
        <p:nvSpPr>
          <p:cNvPr id="22" name="Text 20"/>
          <p:cNvSpPr txBox="1"/>
          <p:nvPr/>
        </p:nvSpPr>
        <p:spPr>
          <a:xfrm>
            <a:off x="3291840" y="4416552"/>
            <a:ext cx="2194560" cy="274320"/>
          </a:xfrm>
          <a:prstGeom prst="rect">
            <a:avLst/>
          </a:prstGeom>
          <a:noFill/>
          <a:ln/>
        </p:spPr>
        <p:txBody>
          <a:bodyPr wrap="square" rtlCol="0" anchor="ctr"/>
          <a:lstStyle/>
          <a:p>
            <a:pPr algn="ctr" indent="0" marL="0">
              <a:buNone/>
            </a:pPr>
            <a:r>
              <a:rPr lang="en-US" sz="950" dirty="0">
                <a:solidFill>
                  <a:srgbClr val="123C4A"/>
                </a:solidFill>
                <a:latin typeface="Calibri" pitchFamily="34" charset="0"/>
                <a:ea typeface="Calibri" pitchFamily="34" charset="-122"/>
                <a:cs typeface="Calibri" pitchFamily="34" charset="-120"/>
              </a:rPr>
              <a:t>150</a:t>
            </a:r>
            <a:endParaRPr lang="en-US" sz="950" dirty="0"/>
          </a:p>
        </p:txBody>
      </p:sp>
      <p:sp>
        <p:nvSpPr>
          <p:cNvPr id="23" name="Shape 21"/>
          <p:cNvSpPr/>
          <p:nvPr/>
        </p:nvSpPr>
        <p:spPr>
          <a:xfrm>
            <a:off x="868680" y="4937760"/>
            <a:ext cx="4617720" cy="548640"/>
          </a:xfrm>
          <a:prstGeom prst="roundRect">
            <a:avLst>
              <a:gd name="adj" fmla="val 13333"/>
            </a:avLst>
          </a:prstGeom>
          <a:solidFill>
            <a:srgbClr val="E4572E"/>
          </a:solidFill>
          <a:ln/>
        </p:spPr>
      </p:sp>
      <p:sp>
        <p:nvSpPr>
          <p:cNvPr id="24" name="Text 22"/>
          <p:cNvSpPr txBox="1"/>
          <p:nvPr/>
        </p:nvSpPr>
        <p:spPr>
          <a:xfrm>
            <a:off x="868680" y="4937760"/>
            <a:ext cx="4617720" cy="5486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Predict Risk</a:t>
            </a:r>
            <a:endParaRPr lang="en-US" sz="1300" dirty="0"/>
          </a:p>
        </p:txBody>
      </p:sp>
      <p:sp>
        <p:nvSpPr>
          <p:cNvPr id="25" name="Shape 23"/>
          <p:cNvSpPr/>
          <p:nvPr/>
        </p:nvSpPr>
        <p:spPr>
          <a:xfrm>
            <a:off x="6172200" y="1600200"/>
            <a:ext cx="5468112" cy="2011680"/>
          </a:xfrm>
          <a:prstGeom prst="roundRect">
            <a:avLst>
              <a:gd name="adj" fmla="val 5455"/>
            </a:avLst>
          </a:prstGeom>
          <a:solidFill>
            <a:srgbClr val="123C4A"/>
          </a:solidFill>
          <a:ln/>
        </p:spPr>
      </p:sp>
      <p:sp>
        <p:nvSpPr>
          <p:cNvPr id="26" name="Text 24"/>
          <p:cNvSpPr txBox="1"/>
          <p:nvPr/>
        </p:nvSpPr>
        <p:spPr>
          <a:xfrm>
            <a:off x="6446520" y="1810512"/>
            <a:ext cx="4937760" cy="457200"/>
          </a:xfrm>
          <a:prstGeom prst="rect">
            <a:avLst/>
          </a:prstGeom>
          <a:noFill/>
          <a:ln/>
        </p:spPr>
        <p:txBody>
          <a:bodyPr wrap="square" rtlCol="0" anchor="ctr"/>
          <a:lstStyle/>
          <a:p>
            <a:pPr indent="0" marL="0">
              <a:buNone/>
            </a:pPr>
            <a:r>
              <a:rPr lang="en-US" sz="2200" b="1" dirty="0">
                <a:solidFill>
                  <a:srgbClr val="E4572E"/>
                </a:solidFill>
                <a:latin typeface="Cambria" pitchFamily="34" charset="0"/>
                <a:ea typeface="Cambria" pitchFamily="34" charset="-122"/>
                <a:cs typeface="Cambria" pitchFamily="34" charset="-120"/>
              </a:rPr>
              <a:t>HIGH RISK</a:t>
            </a:r>
            <a:endParaRPr lang="en-US" sz="2200" dirty="0"/>
          </a:p>
        </p:txBody>
      </p:sp>
      <p:sp>
        <p:nvSpPr>
          <p:cNvPr id="27" name="Text 25"/>
          <p:cNvSpPr txBox="1"/>
          <p:nvPr/>
        </p:nvSpPr>
        <p:spPr>
          <a:xfrm>
            <a:off x="6446520" y="2286000"/>
            <a:ext cx="4937760" cy="3657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Predicted probability: 91.3%</a:t>
            </a:r>
            <a:endParaRPr lang="en-US" sz="1400" dirty="0"/>
          </a:p>
        </p:txBody>
      </p:sp>
      <p:sp>
        <p:nvSpPr>
          <p:cNvPr id="28" name="Shape 26"/>
          <p:cNvSpPr/>
          <p:nvPr/>
        </p:nvSpPr>
        <p:spPr>
          <a:xfrm>
            <a:off x="6446520" y="2743200"/>
            <a:ext cx="4937760" cy="201168"/>
          </a:xfrm>
          <a:prstGeom prst="roundRect">
            <a:avLst>
              <a:gd name="adj" fmla="val 50000"/>
            </a:avLst>
          </a:prstGeom>
          <a:solidFill>
            <a:srgbClr val="0B2A34"/>
          </a:solidFill>
          <a:ln/>
        </p:spPr>
      </p:sp>
      <p:sp>
        <p:nvSpPr>
          <p:cNvPr id="29" name="Shape 27"/>
          <p:cNvSpPr/>
          <p:nvPr/>
        </p:nvSpPr>
        <p:spPr>
          <a:xfrm>
            <a:off x="6446520" y="2743200"/>
            <a:ext cx="4507992" cy="201168"/>
          </a:xfrm>
          <a:prstGeom prst="roundRect">
            <a:avLst>
              <a:gd name="adj" fmla="val 50000"/>
            </a:avLst>
          </a:prstGeom>
          <a:solidFill>
            <a:srgbClr val="E4572E"/>
          </a:solidFill>
          <a:ln/>
        </p:spPr>
      </p:sp>
      <p:sp>
        <p:nvSpPr>
          <p:cNvPr id="30" name="Text 28"/>
          <p:cNvSpPr txBox="1"/>
          <p:nvPr/>
        </p:nvSpPr>
        <p:spPr>
          <a:xfrm>
            <a:off x="6446520" y="3108960"/>
            <a:ext cx="4937760" cy="365760"/>
          </a:xfrm>
          <a:prstGeom prst="rect">
            <a:avLst/>
          </a:prstGeom>
          <a:noFill/>
          <a:ln/>
        </p:spPr>
        <p:txBody>
          <a:bodyPr wrap="square" rtlCol="0" anchor="ctr"/>
          <a:lstStyle/>
          <a:p>
            <a:pPr indent="0" marL="0">
              <a:buNone/>
            </a:pPr>
            <a:r>
              <a:rPr lang="en-US" sz="1100" i="1" dirty="0">
                <a:solidFill>
                  <a:srgbClr val="D7EAE6"/>
                </a:solidFill>
                <a:latin typeface="Calibri" pitchFamily="34" charset="0"/>
                <a:ea typeface="Calibri" pitchFamily="34" charset="-122"/>
                <a:cs typeface="Calibri" pitchFamily="34" charset="-120"/>
              </a:rPr>
              <a:t>Top factor: ⬆️ thal pushes risk UP (SHAP = +0.183)</a:t>
            </a:r>
            <a:endParaRPr lang="en-US" sz="1100" dirty="0"/>
          </a:p>
        </p:txBody>
      </p:sp>
      <p:sp>
        <p:nvSpPr>
          <p:cNvPr id="31" name="Text 29"/>
          <p:cNvSpPr txBox="1"/>
          <p:nvPr/>
        </p:nvSpPr>
        <p:spPr>
          <a:xfrm>
            <a:off x="6172200" y="3840480"/>
            <a:ext cx="5468112" cy="822960"/>
          </a:xfrm>
          <a:prstGeom prst="rect">
            <a:avLst/>
          </a:prstGeom>
          <a:noFill/>
          <a:ln/>
        </p:spPr>
        <p:txBody>
          <a:bodyPr wrap="square" rtlCol="0" anchor="ctr"/>
          <a:lstStyle/>
          <a:p>
            <a:pPr indent="0" marL="0">
              <a:lnSpc>
                <a:spcPct val="125000"/>
              </a:lnSpc>
              <a:buNone/>
            </a:pPr>
            <a:r>
              <a:rPr lang="en-US" sz="1150" dirty="0">
                <a:solidFill>
                  <a:srgbClr val="132B31"/>
                </a:solidFill>
                <a:latin typeface="Calibri" pitchFamily="34" charset="0"/>
                <a:ea typeface="Calibri" pitchFamily="34" charset="-122"/>
                <a:cs typeface="Calibri" pitchFamily="34" charset="-120"/>
              </a:rPr>
              <a:t>Also available: ipywidgets dashboard embedded directly in the notebook for a self-contained, no-server live demo (Section 11).</a:t>
            </a:r>
            <a:endParaRPr lang="en-US" sz="1150" dirty="0"/>
          </a:p>
        </p:txBody>
      </p:sp>
      <p:sp>
        <p:nvSpPr>
          <p:cNvPr id="32" name="Shape 30"/>
          <p:cNvSpPr/>
          <p:nvPr/>
        </p:nvSpPr>
        <p:spPr>
          <a:xfrm>
            <a:off x="6172200" y="4846320"/>
            <a:ext cx="548640" cy="548640"/>
          </a:xfrm>
          <a:prstGeom prst="ellipse">
            <a:avLst/>
          </a:prstGeom>
          <a:solidFill>
            <a:srgbClr val="123C4A"/>
          </a:solidFill>
          <a:ln/>
        </p:spPr>
      </p:sp>
      <p:pic>
        <p:nvPicPr>
          <p:cNvPr id="33" name="Image 0" descr="icon_laptopmedical.png">    </p:cNvPr>
          <p:cNvPicPr>
            <a:picLocks noChangeAspect="1"/>
          </p:cNvPicPr>
          <p:nvPr/>
        </p:nvPicPr>
        <p:blipFill>
          <a:blip r:embed="rId1"/>
          <a:stretch>
            <a:fillRect/>
          </a:stretch>
        </p:blipFill>
        <p:spPr>
          <a:xfrm>
            <a:off x="6303874" y="4977994"/>
            <a:ext cx="285293" cy="285293"/>
          </a:xfrm>
          <a:prstGeom prst="rect">
            <a:avLst/>
          </a:prstGeom>
        </p:spPr>
      </p:pic>
      <p:sp>
        <p:nvSpPr>
          <p:cNvPr id="34" name="Text 31"/>
          <p:cNvSpPr txBox="1"/>
          <p:nvPr/>
        </p:nvSpPr>
        <p:spPr>
          <a:xfrm>
            <a:off x="6858000" y="4864608"/>
            <a:ext cx="4754880" cy="960120"/>
          </a:xfrm>
          <a:prstGeom prst="rect">
            <a:avLst/>
          </a:prstGeom>
          <a:noFill/>
          <a:ln/>
        </p:spPr>
        <p:txBody>
          <a:bodyPr wrap="square" rtlCol="0" anchor="ctr"/>
          <a:lstStyle/>
          <a:p>
            <a:pPr indent="0" marL="0">
              <a:lnSpc>
                <a:spcPct val="120000"/>
              </a:lnSpc>
              <a:buNone/>
            </a:pPr>
            <a:r>
              <a:rPr lang="en-US" sz="1080" dirty="0">
                <a:solidFill>
                  <a:srgbClr val="5B7A78"/>
                </a:solidFill>
                <a:latin typeface="Calibri" pitchFamily="34" charset="0"/>
                <a:ea typeface="Calibri" pitchFamily="34" charset="-122"/>
                <a:cs typeface="Calibri" pitchFamily="34" charset="-120"/>
              </a:rPr>
              <a:t>One shared artifact: cardioguard_pipeline.pkl + cardioguard_explainer.pkl, loaded by both front-ends — no risk of a scaler/model mismatch at inference time.</a:t>
            </a:r>
            <a:endParaRPr lang="en-US" sz="1080" dirty="0"/>
          </a:p>
        </p:txBody>
      </p:sp>
      <p:sp>
        <p:nvSpPr>
          <p:cNvPr id="35" name="Text 32"/>
          <p:cNvSpPr/>
          <p:nvPr/>
        </p:nvSpPr>
        <p:spPr>
          <a:xfrm>
            <a:off x="457200" y="6492240"/>
            <a:ext cx="5486400" cy="274320"/>
          </a:xfrm>
          <a:prstGeom prst="rect">
            <a:avLst/>
          </a:prstGeom>
          <a:noFill/>
          <a:ln/>
        </p:spPr>
        <p:txBody>
          <a:bodyPr wrap="square" rtlCol="0" anchor="ctr"/>
          <a:lstStyle/>
          <a:p>
            <a:pPr indent="0" marL="0">
              <a:buNone/>
            </a:pPr>
            <a:r>
              <a:rPr lang="en-US" sz="900" dirty="0">
                <a:solidFill>
                  <a:srgbClr val="5B7A78"/>
                </a:solidFill>
                <a:latin typeface="Calibri" pitchFamily="34" charset="0"/>
                <a:ea typeface="Calibri" pitchFamily="34" charset="-122"/>
                <a:cs typeface="Calibri" pitchFamily="34" charset="-120"/>
              </a:rPr>
              <a:t>CardioGuard — SMLC Mini Project</a:t>
            </a:r>
            <a:endParaRPr lang="en-US" sz="900" dirty="0"/>
          </a:p>
        </p:txBody>
      </p:sp>
      <p:sp>
        <p:nvSpPr>
          <p:cNvPr id="36" name="Text 33"/>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7A7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3C4A"/>
        </a:solidFill>
      </p:bgPr>
    </p:bg>
    <p:spTree>
      <p:nvGrpSpPr>
        <p:cNvPr id="1" name=""/>
        <p:cNvGrpSpPr/>
        <p:nvPr/>
      </p:nvGrpSpPr>
      <p:grpSpPr>
        <a:xfrm>
          <a:off x="0" y="0"/>
          <a:ext cx="0" cy="0"/>
          <a:chOff x="0" y="0"/>
          <a:chExt cx="0" cy="0"/>
        </a:xfrm>
      </p:grpSpPr>
      <p:sp>
        <p:nvSpPr>
          <p:cNvPr id="2" name="Shape 0"/>
          <p:cNvSpPr/>
          <p:nvPr/>
        </p:nvSpPr>
        <p:spPr>
          <a:xfrm>
            <a:off x="9966960" y="4206240"/>
            <a:ext cx="4114800" cy="4114800"/>
          </a:xfrm>
          <a:prstGeom prst="ellipse">
            <a:avLst/>
          </a:prstGeom>
          <a:solidFill>
            <a:srgbClr val="0B2A34"/>
          </a:solidFill>
          <a:ln/>
        </p:spPr>
      </p:sp>
      <p:sp>
        <p:nvSpPr>
          <p:cNvPr id="3" name="Text 1"/>
          <p:cNvSpPr txBox="1"/>
          <p:nvPr/>
        </p:nvSpPr>
        <p:spPr>
          <a:xfrm>
            <a:off x="548640" y="457200"/>
            <a:ext cx="91440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 &amp; Future Work</a:t>
            </a:r>
            <a:endParaRPr lang="en-US" sz="3000" dirty="0"/>
          </a:p>
        </p:txBody>
      </p:sp>
      <p:sp>
        <p:nvSpPr>
          <p:cNvPr id="4" name="Shape 2"/>
          <p:cNvSpPr/>
          <p:nvPr/>
        </p:nvSpPr>
        <p:spPr>
          <a:xfrm>
            <a:off x="548640" y="1371600"/>
            <a:ext cx="502920" cy="502920"/>
          </a:xfrm>
          <a:prstGeom prst="ellipse">
            <a:avLst/>
          </a:prstGeom>
          <a:solidFill>
            <a:srgbClr val="E4572E"/>
          </a:solidFill>
          <a:ln/>
        </p:spPr>
      </p:sp>
      <p:pic>
        <p:nvPicPr>
          <p:cNvPr id="5" name="Image 0" descr="icon_flagcheckered.png">    </p:cNvPr>
          <p:cNvPicPr>
            <a:picLocks noChangeAspect="1"/>
          </p:cNvPicPr>
          <p:nvPr/>
        </p:nvPicPr>
        <p:blipFill>
          <a:blip r:embed="rId1"/>
          <a:stretch>
            <a:fillRect/>
          </a:stretch>
        </p:blipFill>
        <p:spPr>
          <a:xfrm>
            <a:off x="669341" y="1492301"/>
            <a:ext cx="261518" cy="261518"/>
          </a:xfrm>
          <a:prstGeom prst="rect">
            <a:avLst/>
          </a:prstGeom>
        </p:spPr>
      </p:pic>
      <p:sp>
        <p:nvSpPr>
          <p:cNvPr id="6" name="Text 3"/>
          <p:cNvSpPr txBox="1"/>
          <p:nvPr/>
        </p:nvSpPr>
        <p:spPr>
          <a:xfrm>
            <a:off x="1234440" y="1417320"/>
            <a:ext cx="457200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Summary</a:t>
            </a:r>
            <a:endParaRPr lang="en-US" sz="1500" dirty="0"/>
          </a:p>
        </p:txBody>
      </p:sp>
      <p:sp>
        <p:nvSpPr>
          <p:cNvPr id="7" name="Text 4"/>
          <p:cNvSpPr txBox="1"/>
          <p:nvPr/>
        </p:nvSpPr>
        <p:spPr>
          <a:xfrm>
            <a:off x="548640" y="1965960"/>
            <a:ext cx="5577840" cy="640080"/>
          </a:xfrm>
          <a:prstGeom prst="rect">
            <a:avLst/>
          </a:prstGeom>
          <a:noFill/>
          <a:ln/>
        </p:spPr>
        <p:txBody>
          <a:bodyPr wrap="square" rtlCol="0" anchor="ctr"/>
          <a:lstStyle/>
          <a:p>
            <a:pPr indent="0" marL="0">
              <a:lnSpc>
                <a:spcPct val="120000"/>
              </a:lnSpc>
              <a:buNone/>
            </a:pPr>
            <a:r>
              <a:rPr lang="en-US" sz="1200" dirty="0">
                <a:solidFill>
                  <a:srgbClr val="D7EAE6"/>
                </a:solidFill>
                <a:latin typeface="Calibri" pitchFamily="34" charset="0"/>
                <a:ea typeface="Calibri" pitchFamily="34" charset="-122"/>
                <a:cs typeface="Calibri" pitchFamily="34" charset="-120"/>
              </a:rPr>
              <a:t>• Tuned Stacking Ensemble (LR + RF + GB) selected purely by CV ROC-AUC — 0.898 CV, 0.881 held-out test ROC-AUC.</a:t>
            </a:r>
            <a:endParaRPr lang="en-US" sz="1200" dirty="0"/>
          </a:p>
        </p:txBody>
      </p:sp>
      <p:sp>
        <p:nvSpPr>
          <p:cNvPr id="8" name="Text 5"/>
          <p:cNvSpPr txBox="1"/>
          <p:nvPr/>
        </p:nvSpPr>
        <p:spPr>
          <a:xfrm>
            <a:off x="548640" y="2651760"/>
            <a:ext cx="5577840" cy="640080"/>
          </a:xfrm>
          <a:prstGeom prst="rect">
            <a:avLst/>
          </a:prstGeom>
          <a:noFill/>
          <a:ln/>
        </p:spPr>
        <p:txBody>
          <a:bodyPr wrap="square" rtlCol="0" anchor="ctr"/>
          <a:lstStyle/>
          <a:p>
            <a:pPr indent="0" marL="0">
              <a:lnSpc>
                <a:spcPct val="120000"/>
              </a:lnSpc>
              <a:buNone/>
            </a:pPr>
            <a:r>
              <a:rPr lang="en-US" sz="1200" dirty="0">
                <a:solidFill>
                  <a:srgbClr val="D7EAE6"/>
                </a:solidFill>
                <a:latin typeface="Calibri" pitchFamily="34" charset="0"/>
                <a:ea typeface="Calibri" pitchFamily="34" charset="-122"/>
                <a:cs typeface="Calibri" pitchFamily="34" charset="-120"/>
              </a:rPr>
              <a:t>• 77.0% test accuracy, comfortably beating the 54.1% majority-class baseline.</a:t>
            </a:r>
            <a:endParaRPr lang="en-US" sz="1200" dirty="0"/>
          </a:p>
        </p:txBody>
      </p:sp>
      <p:sp>
        <p:nvSpPr>
          <p:cNvPr id="9" name="Text 6"/>
          <p:cNvSpPr txBox="1"/>
          <p:nvPr/>
        </p:nvSpPr>
        <p:spPr>
          <a:xfrm>
            <a:off x="548640" y="3337560"/>
            <a:ext cx="5577840" cy="640080"/>
          </a:xfrm>
          <a:prstGeom prst="rect">
            <a:avLst/>
          </a:prstGeom>
          <a:noFill/>
          <a:ln/>
        </p:spPr>
        <p:txBody>
          <a:bodyPr wrap="square" rtlCol="0" anchor="ctr"/>
          <a:lstStyle/>
          <a:p>
            <a:pPr indent="0" marL="0">
              <a:lnSpc>
                <a:spcPct val="120000"/>
              </a:lnSpc>
              <a:buNone/>
            </a:pPr>
            <a:r>
              <a:rPr lang="en-US" sz="1200" dirty="0">
                <a:solidFill>
                  <a:srgbClr val="D7EAE6"/>
                </a:solidFill>
                <a:latin typeface="Calibri" pitchFamily="34" charset="0"/>
                <a:ea typeface="Calibri" pitchFamily="34" charset="-122"/>
                <a:cs typeface="Calibri" pitchFamily="34" charset="-120"/>
              </a:rPr>
              <a:t>• Dual explainability (permutation + SHAP) and a shared, single deployable Pipeline power two live UIs.</a:t>
            </a:r>
            <a:endParaRPr lang="en-US" sz="1200" dirty="0"/>
          </a:p>
        </p:txBody>
      </p:sp>
      <p:sp>
        <p:nvSpPr>
          <p:cNvPr id="10" name="Shape 7"/>
          <p:cNvSpPr/>
          <p:nvPr/>
        </p:nvSpPr>
        <p:spPr>
          <a:xfrm>
            <a:off x="6492240" y="1371600"/>
            <a:ext cx="502920" cy="502920"/>
          </a:xfrm>
          <a:prstGeom prst="ellipse">
            <a:avLst/>
          </a:prstGeom>
          <a:solidFill>
            <a:srgbClr val="E4572E"/>
          </a:solidFill>
          <a:ln/>
        </p:spPr>
      </p:sp>
      <p:pic>
        <p:nvPicPr>
          <p:cNvPr id="11" name="Image 1" descr="icon_lightbulb.png">    </p:cNvPr>
          <p:cNvPicPr>
            <a:picLocks noChangeAspect="1"/>
          </p:cNvPicPr>
          <p:nvPr/>
        </p:nvPicPr>
        <p:blipFill>
          <a:blip r:embed="rId2"/>
          <a:stretch>
            <a:fillRect/>
          </a:stretch>
        </p:blipFill>
        <p:spPr>
          <a:xfrm>
            <a:off x="6612941" y="1492301"/>
            <a:ext cx="261518" cy="261518"/>
          </a:xfrm>
          <a:prstGeom prst="rect">
            <a:avLst/>
          </a:prstGeom>
        </p:spPr>
      </p:pic>
      <p:sp>
        <p:nvSpPr>
          <p:cNvPr id="12" name="Text 8"/>
          <p:cNvSpPr txBox="1"/>
          <p:nvPr/>
        </p:nvSpPr>
        <p:spPr>
          <a:xfrm>
            <a:off x="7178040" y="1417320"/>
            <a:ext cx="457200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Limitations &amp; Future Work</a:t>
            </a:r>
            <a:endParaRPr lang="en-US" sz="1500" dirty="0"/>
          </a:p>
        </p:txBody>
      </p:sp>
      <p:sp>
        <p:nvSpPr>
          <p:cNvPr id="13" name="Text 9"/>
          <p:cNvSpPr txBox="1"/>
          <p:nvPr/>
        </p:nvSpPr>
        <p:spPr>
          <a:xfrm>
            <a:off x="6492240" y="1965960"/>
            <a:ext cx="5120640" cy="640080"/>
          </a:xfrm>
          <a:prstGeom prst="rect">
            <a:avLst/>
          </a:prstGeom>
          <a:noFill/>
          <a:ln/>
        </p:spPr>
        <p:txBody>
          <a:bodyPr wrap="square" rtlCol="0" anchor="ctr"/>
          <a:lstStyle/>
          <a:p>
            <a:pPr indent="0" marL="0">
              <a:lnSpc>
                <a:spcPct val="120000"/>
              </a:lnSpc>
              <a:buNone/>
            </a:pPr>
            <a:r>
              <a:rPr lang="en-US" sz="1200" dirty="0">
                <a:solidFill>
                  <a:srgbClr val="D7EAE6"/>
                </a:solidFill>
                <a:latin typeface="Calibri" pitchFamily="34" charset="0"/>
                <a:ea typeface="Calibri" pitchFamily="34" charset="-122"/>
                <a:cs typeface="Calibri" pitchFamily="34" charset="-120"/>
              </a:rPr>
              <a:t>• Modest dataset (302 patients) — a larger, more diverse cohort would tighten confidence in test-set numbers.</a:t>
            </a:r>
            <a:endParaRPr lang="en-US" sz="1200" dirty="0"/>
          </a:p>
        </p:txBody>
      </p:sp>
      <p:sp>
        <p:nvSpPr>
          <p:cNvPr id="14" name="Text 10"/>
          <p:cNvSpPr txBox="1"/>
          <p:nvPr/>
        </p:nvSpPr>
        <p:spPr>
          <a:xfrm>
            <a:off x="6492240" y="2651760"/>
            <a:ext cx="5120640" cy="640080"/>
          </a:xfrm>
          <a:prstGeom prst="rect">
            <a:avLst/>
          </a:prstGeom>
          <a:noFill/>
          <a:ln/>
        </p:spPr>
        <p:txBody>
          <a:bodyPr wrap="square" rtlCol="0" anchor="ctr"/>
          <a:lstStyle/>
          <a:p>
            <a:pPr indent="0" marL="0">
              <a:lnSpc>
                <a:spcPct val="120000"/>
              </a:lnSpc>
              <a:buNone/>
            </a:pPr>
            <a:r>
              <a:rPr lang="en-US" sz="1200" dirty="0">
                <a:solidFill>
                  <a:srgbClr val="D7EAE6"/>
                </a:solidFill>
                <a:latin typeface="Calibri" pitchFamily="34" charset="0"/>
                <a:ea typeface="Calibri" pitchFamily="34" charset="-122"/>
                <a:cs typeface="Calibri" pitchFamily="34" charset="-120"/>
              </a:rPr>
              <a:t>• SHAP currently explains the Random Forest component; a full KernelExplainer on the ensemble would be exact but slower.</a:t>
            </a:r>
            <a:endParaRPr lang="en-US" sz="1200" dirty="0"/>
          </a:p>
        </p:txBody>
      </p:sp>
      <p:sp>
        <p:nvSpPr>
          <p:cNvPr id="15" name="Text 11"/>
          <p:cNvSpPr txBox="1"/>
          <p:nvPr/>
        </p:nvSpPr>
        <p:spPr>
          <a:xfrm>
            <a:off x="6492240" y="3337560"/>
            <a:ext cx="5120640" cy="640080"/>
          </a:xfrm>
          <a:prstGeom prst="rect">
            <a:avLst/>
          </a:prstGeom>
          <a:noFill/>
          <a:ln/>
        </p:spPr>
        <p:txBody>
          <a:bodyPr wrap="square" rtlCol="0" anchor="ctr"/>
          <a:lstStyle/>
          <a:p>
            <a:pPr indent="0" marL="0">
              <a:lnSpc>
                <a:spcPct val="120000"/>
              </a:lnSpc>
              <a:buNone/>
            </a:pPr>
            <a:r>
              <a:rPr lang="en-US" sz="1200" dirty="0">
                <a:solidFill>
                  <a:srgbClr val="D7EAE6"/>
                </a:solidFill>
                <a:latin typeface="Calibri" pitchFamily="34" charset="0"/>
                <a:ea typeface="Calibri" pitchFamily="34" charset="-122"/>
                <a:cs typeface="Calibri" pitchFamily="34" charset="-120"/>
              </a:rPr>
              <a:t>• Add probability calibration and external validation on a second clinical site before any real-world use.</a:t>
            </a:r>
            <a:endParaRPr lang="en-US" sz="1200" dirty="0"/>
          </a:p>
        </p:txBody>
      </p:sp>
      <p:sp>
        <p:nvSpPr>
          <p:cNvPr id="16" name="Shape 12"/>
          <p:cNvSpPr/>
          <p:nvPr/>
        </p:nvSpPr>
        <p:spPr>
          <a:xfrm>
            <a:off x="548640" y="4434840"/>
            <a:ext cx="11064240" cy="0"/>
          </a:xfrm>
          <a:prstGeom prst="line">
            <a:avLst/>
          </a:prstGeom>
          <a:noFill/>
          <a:ln w="12700">
            <a:solidFill>
              <a:srgbClr val="2A5A66"/>
            </a:solidFill>
            <a:prstDash val="solid"/>
          </a:ln>
        </p:spPr>
      </p:sp>
      <p:sp>
        <p:nvSpPr>
          <p:cNvPr id="17" name="Text 13"/>
          <p:cNvSpPr txBox="1"/>
          <p:nvPr/>
        </p:nvSpPr>
        <p:spPr>
          <a:xfrm>
            <a:off x="548640" y="4617720"/>
            <a:ext cx="7315200" cy="365760"/>
          </a:xfrm>
          <a:prstGeom prst="rect">
            <a:avLst/>
          </a:prstGeom>
          <a:noFill/>
          <a:ln/>
        </p:spPr>
        <p:txBody>
          <a:bodyPr wrap="square" rtlCol="0" anchor="ctr"/>
          <a:lstStyle/>
          <a:p>
            <a:pPr indent="0" marL="0">
              <a:buNone/>
            </a:pPr>
            <a:r>
              <a:rPr lang="en-US" sz="1200" i="1" dirty="0">
                <a:solidFill>
                  <a:srgbClr val="D7EAE6"/>
                </a:solidFill>
                <a:latin typeface="Calibri" pitchFamily="34" charset="0"/>
                <a:ea typeface="Calibri" pitchFamily="34" charset="-122"/>
                <a:cs typeface="Calibri" pitchFamily="34" charset="-120"/>
              </a:rPr>
              <a:t>Not a medical device — educational demonstration only.</a:t>
            </a:r>
            <a:endParaRPr lang="en-US" sz="1200" dirty="0"/>
          </a:p>
        </p:txBody>
      </p:sp>
      <p:sp>
        <p:nvSpPr>
          <p:cNvPr id="18" name="Text 14"/>
          <p:cNvSpPr txBox="1"/>
          <p:nvPr/>
        </p:nvSpPr>
        <p:spPr>
          <a:xfrm>
            <a:off x="548640" y="5989320"/>
            <a:ext cx="10515600" cy="36576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Rahul Patidar   |   PES1PGE25DS049   |   PES University</a:t>
            </a:r>
            <a:endParaRPr lang="en-US" sz="1250" dirty="0"/>
          </a:p>
        </p:txBody>
      </p:sp>
      <p:sp>
        <p:nvSpPr>
          <p:cNvPr id="19" name="Text 15"/>
          <p:cNvSpPr txBox="1"/>
          <p:nvPr/>
        </p:nvSpPr>
        <p:spPr>
          <a:xfrm>
            <a:off x="548640" y="6355080"/>
            <a:ext cx="10515600" cy="365760"/>
          </a:xfrm>
          <a:prstGeom prst="rect">
            <a:avLst/>
          </a:prstGeom>
          <a:noFill/>
          <a:ln/>
        </p:spPr>
        <p:txBody>
          <a:bodyPr wrap="square" rtlCol="0" anchor="ctr"/>
          <a:lstStyle/>
          <a:p>
            <a:pPr indent="0" marL="0">
              <a:buNone/>
            </a:pPr>
            <a:r>
              <a:rPr lang="en-US" sz="1100" i="1" dirty="0">
                <a:solidFill>
                  <a:srgbClr val="D7EAE6"/>
                </a:solidFill>
                <a:latin typeface="Calibri" pitchFamily="34" charset="0"/>
                <a:ea typeface="Calibri" pitchFamily="34" charset="-122"/>
                <a:cs typeface="Calibri" pitchFamily="34" charset="-120"/>
              </a:rPr>
              <a:t>Under the guidance of Dr. Shylaja S. Sharath, HOD, Dept. of CSE, PES University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2026-08-29T02:04:18Z</dcterms:created>
  <dcterms:modified xsi:type="dcterms:W3CDTF">2026-08-29T02:04:18Z</dcterms:modified>
</cp:coreProperties>
</file>