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123C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32B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23C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Disease (0)</c:v>
                  </c:pt>
                  <c:pt idx="1">
                    <c:v>Disease (1)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138</c:v>
                </c:pt>
                <c:pt idx="1">
                  <c:v>164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32B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2B3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9525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ROC-AUC (train)</c:v>
                </c:pt>
              </c:strCache>
            </c:strRef>
          </c:tx>
          <c:spPr>
            <a:solidFill>
              <a:srgbClr val="123C4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B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Log. Reg.</c:v>
                  </c:pt>
                  <c:pt idx="1">
                    <c:v>KNN</c:v>
                  </c:pt>
                  <c:pt idx="2">
                    <c:v>Decision Tree</c:v>
                  </c:pt>
                  <c:pt idx="3">
                    <c:v>Random Forest</c:v>
                  </c:pt>
                  <c:pt idx="4">
                    <c:v>SVM (RBF)</c:v>
                  </c:pt>
                  <c:pt idx="5">
                    <c:v>Grad. Boosting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0.896</c:v>
                </c:pt>
                <c:pt idx="1">
                  <c:v>0.889</c:v>
                </c:pt>
                <c:pt idx="2">
                  <c:v>0.826</c:v>
                </c:pt>
                <c:pt idx="3">
                  <c:v>0.894</c:v>
                </c:pt>
                <c:pt idx="4">
                  <c:v>0.883</c:v>
                </c:pt>
                <c:pt idx="5">
                  <c:v>0.89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ROC-AUC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B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Log. Reg.</c:v>
                  </c:pt>
                  <c:pt idx="1">
                    <c:v>KNN</c:v>
                  </c:pt>
                  <c:pt idx="2">
                    <c:v>Decision Tree</c:v>
                  </c:pt>
                  <c:pt idx="3">
                    <c:v>Random Forest</c:v>
                  </c:pt>
                  <c:pt idx="4">
                    <c:v>SVM (RBF)</c:v>
                  </c:pt>
                  <c:pt idx="5">
                    <c:v>Grad. Boosting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0.872</c:v>
                </c:pt>
                <c:pt idx="1">
                  <c:v>0.892</c:v>
                </c:pt>
                <c:pt idx="2">
                  <c:v>0.708</c:v>
                </c:pt>
                <c:pt idx="3">
                  <c:v>0.886</c:v>
                </c:pt>
                <c:pt idx="4">
                  <c:v>0.918</c:v>
                </c:pt>
                <c:pt idx="5">
                  <c:v>0.874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32B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32B3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9525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2B3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ROC-AUC when shuffled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B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ca</c:v>
                  </c:pt>
                  <c:pt idx="1">
                    <c:v>thal</c:v>
                  </c:pt>
                  <c:pt idx="2">
                    <c:v>thalach</c:v>
                  </c:pt>
                  <c:pt idx="3">
                    <c:v>oldpeak</c:v>
                  </c:pt>
                  <c:pt idx="4">
                    <c:v>sex</c:v>
                  </c:pt>
                  <c:pt idx="5">
                    <c:v>cp</c:v>
                  </c:pt>
                  <c:pt idx="6">
                    <c:v>age</c:v>
                  </c:pt>
                  <c:pt idx="7">
                    <c:v>exang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0.0708</c:v>
                </c:pt>
                <c:pt idx="1">
                  <c:v>0.0379</c:v>
                </c:pt>
                <c:pt idx="2">
                  <c:v>0.0172</c:v>
                </c:pt>
                <c:pt idx="3">
                  <c:v>0.0158</c:v>
                </c:pt>
                <c:pt idx="4">
                  <c:v>0.0148</c:v>
                </c:pt>
                <c:pt idx="5">
                  <c:v>0.0147</c:v>
                </c:pt>
                <c:pt idx="6">
                  <c:v>0.0031</c:v>
                </c:pt>
                <c:pt idx="7">
                  <c:v>0.0028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32B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2B3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B2A34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0B2A3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68680"/>
            <a:ext cx="960120" cy="96012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5" name="Image 0" descr="icon_heart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9" y="1099109"/>
            <a:ext cx="499262" cy="4992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196596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CardioGuard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Heart Disease Risk Classification with a Tuned Stacking Ensemble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22960" y="3703320"/>
            <a:ext cx="4206240" cy="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931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SMLC (UX25CS635A) — Supervised Machine Learning Classification Mini Project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Patidar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2303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SRN: PES1PGE25DS049  ·  1st Semester, M.Tech (Data Science &amp; Artificial Intelligence)  ·  PES University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5806440"/>
            <a:ext cx="4206240" cy="0"/>
          </a:xfrm>
          <a:prstGeom prst="line">
            <a:avLst/>
          </a:prstGeom>
          <a:noFill/>
          <a:ln w="12700">
            <a:solidFill>
              <a:srgbClr val="2A5A6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5943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</a:t>
            </a:r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Shylaja S. Sharath, HOD, Dept. of CSE, PES University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is one of the leading causes of death worldwide. Clinicians assess risk by combining many measurements — age, cholesterol, blood pressure, ECG results — a process that is manual, inconsistent, and hard to scale for early screening.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rgbClr val="123C4A"/>
          </a:solidFill>
          <a:ln/>
        </p:spPr>
      </p:sp>
      <p:pic>
        <p:nvPicPr>
          <p:cNvPr id="5" name="Image 0" descr="icon_stethosc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32863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3108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341071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heart disease present (1) vs. absent (0) from 13 standard clinical features.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rgbClr val="123C4A"/>
          </a:solidFill>
          <a:ln/>
        </p:spPr>
      </p:sp>
      <p:pic>
        <p:nvPicPr>
          <p:cNvPr id="9" name="Image 1" descr="icon_clipboard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424647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4069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rigorously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437083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Leak-proof pipeline, stratified splits, cross-validated hyperparameter tuning, held-out test set.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5074920"/>
            <a:ext cx="548640" cy="548640"/>
          </a:xfrm>
          <a:prstGeom prst="ellipse">
            <a:avLst/>
          </a:prstGeom>
          <a:solidFill>
            <a:srgbClr val="123C4A"/>
          </a:solidFill>
          <a:ln/>
        </p:spPr>
      </p:sp>
      <p:pic>
        <p:nvPicPr>
          <p:cNvPr id="13" name="Image 2" descr="icon_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520659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5029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533095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is accompanied by the clinical factors driving it — not a black box.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903720" y="1188720"/>
            <a:ext cx="4754880" cy="5029200"/>
          </a:xfrm>
          <a:prstGeom prst="roundRect">
            <a:avLst>
              <a:gd name="adj" fmla="val 2308"/>
            </a:avLst>
          </a:prstGeom>
          <a:solidFill>
            <a:srgbClr val="EAF3F1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269480" y="1417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7269480" y="1965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7269480" y="286207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of death globally is cardiovascular disease (WHO)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7269480" y="3429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43251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 used per patient in this study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7269480" y="48920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302</a:t>
            </a:r>
            <a:endParaRPr lang="en-US" sz="4000" dirty="0"/>
          </a:p>
        </p:txBody>
      </p:sp>
      <p:sp>
        <p:nvSpPr>
          <p:cNvPr id="23" name="Text 18"/>
          <p:cNvSpPr txBox="1"/>
          <p:nvPr/>
        </p:nvSpPr>
        <p:spPr>
          <a:xfrm>
            <a:off x="7269480" y="578815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de-duplicated patient records (UCI Cleveland)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CardioGuard — SMLC Mini Project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Cleveland Heart Disease dataset — the classic benchmark used across published heart-disease-classification research.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23C4A"/>
          </a:solidFill>
          <a:ln/>
        </p:spPr>
      </p:sp>
      <p:pic>
        <p:nvPicPr>
          <p:cNvPr id="5" name="Image 0" descr="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90378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clinical features, 3 groups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EAF3F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247802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(6)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75234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trestbps, chol, thalach, oldpeak, ca  → StandardScaler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EAF3F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32552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(3)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52958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sex, fbs, exang  → passthrough (already 0/1)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3977640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EAF3F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31520" y="403250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categorical (4)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3068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cp, restecg, slope, thal  → One-Hot Encoded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9834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note: cp / restecg / slope / thal codes are inconsistently documented across public mirrors — modelled purely as nominal categories, with no assumed clinical ordering.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(after de-duplication, n = 302)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492240" y="2148840"/>
          <a:ext cx="51206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5"/>
          <p:cNvSpPr/>
          <p:nvPr/>
        </p:nvSpPr>
        <p:spPr>
          <a:xfrm>
            <a:off x="6492240" y="46177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720840" y="48006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stratified split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241 patients  |  Test: 61 patients (never touched during tuning)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CardioGuard — SMLC Mini Project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leak-proof scikit-learn Pipeline: preprocessing is fit only on the training fold, for every model and every CV split.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EAF3F1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221992"/>
            <a:ext cx="640080" cy="640080"/>
          </a:xfrm>
          <a:prstGeom prst="ellipse">
            <a:avLst/>
          </a:prstGeom>
          <a:solidFill>
            <a:srgbClr val="123C4A"/>
          </a:solidFill>
          <a:ln/>
        </p:spPr>
      </p:sp>
      <p:pic>
        <p:nvPicPr>
          <p:cNvPr id="6" name="Image 0" descr="icon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239" y="2375611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301752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429000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ColumnTransformer: scale / passthrough / one-hot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136392" y="2350008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55848" y="196596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EAF3F1"/>
          </a:solidFill>
          <a:ln/>
        </p:spPr>
      </p:sp>
      <p:sp>
        <p:nvSpPr>
          <p:cNvPr id="12" name="Shape 9"/>
          <p:cNvSpPr/>
          <p:nvPr/>
        </p:nvSpPr>
        <p:spPr>
          <a:xfrm>
            <a:off x="4338828" y="2221992"/>
            <a:ext cx="640080" cy="640080"/>
          </a:xfrm>
          <a:prstGeom prst="ellipse">
            <a:avLst/>
          </a:prstGeom>
          <a:solidFill>
            <a:srgbClr val="123C4A"/>
          </a:solidFill>
          <a:ln/>
        </p:spPr>
      </p:sp>
      <p:pic>
        <p:nvPicPr>
          <p:cNvPr id="13" name="Image 1" descr="icon_layer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447" y="2375611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65576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301752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6 models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3429000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GridSearchCV, 5-fold stratified CV, optimize ROC-AUC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943600" y="2350008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163056" y="196596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123C4A"/>
          </a:solidFill>
          <a:ln/>
        </p:spPr>
      </p:sp>
      <p:sp>
        <p:nvSpPr>
          <p:cNvPr id="19" name="Shape 15"/>
          <p:cNvSpPr/>
          <p:nvPr/>
        </p:nvSpPr>
        <p:spPr>
          <a:xfrm>
            <a:off x="7146036" y="2221992"/>
            <a:ext cx="640080" cy="64008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0" name="Image 2" descr="icon_project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655" y="2375611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72784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327648" y="301752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ensemble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327648" y="3429000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tuned base learners → Logistic Regression meta-learner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8750808" y="2350008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8970264" y="196596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EAF3F1"/>
          </a:solidFill>
          <a:ln/>
        </p:spPr>
      </p:sp>
      <p:sp>
        <p:nvSpPr>
          <p:cNvPr id="26" name="Shape 21"/>
          <p:cNvSpPr/>
          <p:nvPr/>
        </p:nvSpPr>
        <p:spPr>
          <a:xfrm>
            <a:off x="9953244" y="2221992"/>
            <a:ext cx="640080" cy="640080"/>
          </a:xfrm>
          <a:prstGeom prst="ellipse">
            <a:avLst/>
          </a:prstGeom>
          <a:solidFill>
            <a:srgbClr val="123C4A"/>
          </a:solidFill>
          <a:ln/>
        </p:spPr>
      </p:sp>
      <p:pic>
        <p:nvPicPr>
          <p:cNvPr id="27" name="Image 3" descr="icon_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863" y="2375611"/>
            <a:ext cx="332842" cy="33284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079992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9134856" y="301752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deploy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9134856" y="3429000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+ SHAP; single joblib Pipeline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learners tuned: Logistic Regression · K-Nearest Neighbors · Decision Tree · Random Forest · SVM (RBF) · Gradient Boosting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516636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(1) hyperparameter-tuned Stacking Ensemble selected purely by cross-validated ROC-AUC (never by peeking at the test set); (2) dual explainability — global permutation importance + exact per-patient SHAP values; (3) single deployable Pipeline object shipped to an interactive UI.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CardioGuard — SMLC Mini Project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Tuned Baseline Model Comparison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cross-validated ROC-AUC (training set) vs. held-out test ROC-AUC, after GridSearchCV tuning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76809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58200" y="1417320"/>
            <a:ext cx="3200400" cy="4572000"/>
          </a:xfrm>
          <a:prstGeom prst="roundRect">
            <a:avLst>
              <a:gd name="adj" fmla="val 3429"/>
            </a:avLst>
          </a:prstGeom>
          <a:solidFill>
            <a:srgbClr val="EAF3F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325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2148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 Regression leads on CV ROC-AUC (0.896) — the linear signal in this feature set is strong.</a:t>
            </a:r>
            <a:endParaRPr lang="en-US" sz="108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31089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SVM (RBF) generalizes best on the untouched test set (ROC-AUC 0.918).</a:t>
            </a:r>
            <a:endParaRPr lang="en-US" sz="108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4069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Tree is weakest and most test-CV gap prone — a single tree overfits small tabular data.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5029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single model dominates both views → motivates stacking multiple tuned learners.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CardioGuard — SMLC Mini Project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 Ensemble — Final 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combination: Logistic Regression + Random Forest + Gradient Boosting, LR meta-learner (chosen by CV ROC-AUC alone)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23C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361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0.898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23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5361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23C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5361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77.0%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46304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23C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5400" y="15361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0.800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</a:t>
            </a:r>
            <a:endParaRPr lang="en-US" sz="1050" dirty="0"/>
          </a:p>
        </p:txBody>
      </p:sp>
      <p:pic>
        <p:nvPicPr>
          <p:cNvPr id="16" name="Image 0" descr="/home/claude/plot_cm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8092440" cy="26974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823960" y="2743200"/>
            <a:ext cx="2834640" cy="3520440"/>
          </a:xfrm>
          <a:prstGeom prst="roundRect">
            <a:avLst>
              <a:gd name="adj" fmla="val 3871"/>
            </a:avLst>
          </a:prstGeom>
          <a:solidFill>
            <a:srgbClr val="EAF3F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05256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329184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Majority-class baseline: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54.1%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test accuracy: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two real held-out patients, predicted risk was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(confirmed no disease) vs.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(confirmed disease).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623560"/>
            <a:ext cx="8092440" cy="731520"/>
          </a:xfrm>
          <a:prstGeom prst="roundRect">
            <a:avLst>
              <a:gd name="adj" fmla="val 12500"/>
            </a:avLst>
          </a:prstGeom>
          <a:solidFill>
            <a:srgbClr val="EAF3F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56235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(test set):  </a:t>
            </a:r>
            <a:pPr indent="0" marL="0">
              <a:buNone/>
            </a:pPr>
            <a:r>
              <a:rPr lang="en-US" sz="110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Disease — precision 0.79, recall 0.68, F1 0.73     </a:t>
            </a:r>
            <a:pPr indent="0" marL="0">
              <a:buNone/>
            </a:pPr>
            <a:r>
              <a:rPr lang="en-US" sz="110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— precision 0.76, recall 0.85, F1 0.80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CardioGuard — SMLC Mini Project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Explainability: Why the Model Decided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techniques give both a global and a per-patient view of the model's reasoning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— Permutation Importance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Per-Patient SHAP Values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92240" y="187452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EAF3F1"/>
          </a:solidFill>
          <a:ln/>
        </p:spPr>
      </p:sp>
      <p:sp>
        <p:nvSpPr>
          <p:cNvPr id="8" name="Shape 5"/>
          <p:cNvSpPr/>
          <p:nvPr/>
        </p:nvSpPr>
        <p:spPr>
          <a:xfrm>
            <a:off x="6766560" y="2103120"/>
            <a:ext cx="566928" cy="566928"/>
          </a:xfrm>
          <a:prstGeom prst="ellipse">
            <a:avLst/>
          </a:prstGeom>
          <a:solidFill>
            <a:srgbClr val="123C4A"/>
          </a:solidFill>
          <a:ln/>
        </p:spPr>
      </p:sp>
      <p:pic>
        <p:nvPicPr>
          <p:cNvPr id="9" name="Image 0" descr="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623" y="223918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98080" y="2121408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shap.TreeExplainer on the tuned Random Forest component gives fast, exact SHAP values — used as a stand-in for the deployed stacking ensemble.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766560" y="3337560"/>
            <a:ext cx="4572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and thal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(major vessels colored, thalassemia result) dominate global importance — consistent with known cardiology risk markers.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patient, the dashboard surfaces the top 4–5 SHAP factors pushing predicted risk up or down — e.g.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thal pushes risk UP (SHAP = +0.18)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CardioGuard — SMLC Mini Project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Clinical Risk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Pipeline is shipped to two live front-ends sharing one artifact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EAF3F1"/>
          </a:solidFill>
          <a:ln w="12700">
            <a:solidFill>
              <a:srgbClr val="C9DE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892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965960"/>
            <a:ext cx="164592" cy="16459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1965960"/>
            <a:ext cx="164592" cy="164592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1965960"/>
            <a:ext cx="164592" cy="164592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4688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CardioGuard Risk Calculator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346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 — app.py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3273552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E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32644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6301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BP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365760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E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36484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mm Hg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0142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4041648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E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91840" y="40325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mg/dl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3982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Heart Rate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4425696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E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91840" y="44165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68680" y="4937760"/>
            <a:ext cx="4617720" cy="548640"/>
          </a:xfrm>
          <a:prstGeom prst="roundRect">
            <a:avLst>
              <a:gd name="adj" fmla="val 13333"/>
            </a:avLst>
          </a:prstGeom>
          <a:solidFill>
            <a:srgbClr val="E457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93776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Risk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1600200"/>
            <a:ext cx="5468112" cy="2011680"/>
          </a:xfrm>
          <a:prstGeom prst="roundRect">
            <a:avLst>
              <a:gd name="adj" fmla="val 5455"/>
            </a:avLst>
          </a:prstGeom>
          <a:solidFill>
            <a:srgbClr val="123C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18105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RISK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probability: 91.3%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46520" y="2743200"/>
            <a:ext cx="4937760" cy="201168"/>
          </a:xfrm>
          <a:prstGeom prst="roundRect">
            <a:avLst>
              <a:gd name="adj" fmla="val 50000"/>
            </a:avLst>
          </a:prstGeom>
          <a:solidFill>
            <a:srgbClr val="0B2A34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2743200"/>
            <a:ext cx="4507992" cy="201168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3108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factor: ⬆️ thal pushes risk UP (SHAP = +0.183)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3840480"/>
            <a:ext cx="5468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3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available: ipywidgets dashboard embedded directly in the notebook for a self-contained, no-server live demo (Section 11).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4846320"/>
            <a:ext cx="548640" cy="548640"/>
          </a:xfrm>
          <a:prstGeom prst="ellipse">
            <a:avLst/>
          </a:prstGeom>
          <a:solidFill>
            <a:srgbClr val="123C4A"/>
          </a:solidFill>
          <a:ln/>
        </p:spPr>
      </p:sp>
      <p:pic>
        <p:nvPicPr>
          <p:cNvPr id="33" name="Image 0" descr="icon_laptopmed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3874" y="4977994"/>
            <a:ext cx="285293" cy="285293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6858000" y="4864608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artifact: cardioguard_pipeline.pkl + cardioguard_explainer.pkl, loaded by both front-ends — no risk of a scaler/model mismatch at inference time.</a:t>
            </a:r>
            <a:endParaRPr lang="en-US" sz="1080" dirty="0"/>
          </a:p>
        </p:txBody>
      </p:sp>
      <p:sp>
        <p:nvSpPr>
          <p:cNvPr id="35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CardioGuard — SMLC Mini Project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06240"/>
            <a:ext cx="4114800" cy="4114800"/>
          </a:xfrm>
          <a:prstGeom prst="ellipse">
            <a:avLst/>
          </a:prstGeom>
          <a:solidFill>
            <a:srgbClr val="0B2A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5" name="Image 0" descr="icon_flagcheck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49230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659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Tuned Stacking Ensemble (LR + RF + GB) selected purely by CV ROC-AUC — 0.898 CV, 0.881 held-out test ROC-AUC.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517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77.0% test accuracy, comfortably beating the 54.1% majority-class baseline.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375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 explainability (permutation + SHAP) and a shared, single deployable Pipeline power two live UIs.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92240" y="137160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1" name="Image 1" descr="icon_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149230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19659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Modest dataset (302 patients) — a larger, more diverse cohort would tighten confidence in test-set numbers.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651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 currently explains the Random Forest component; a full KernelExplainer on the ensemble would be exact but slower.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3337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probability calibration and external validation on a second clinical site before any real-world use.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434840"/>
            <a:ext cx="11064240" cy="0"/>
          </a:xfrm>
          <a:prstGeom prst="line">
            <a:avLst/>
          </a:prstGeom>
          <a:noFill/>
          <a:ln w="12700">
            <a:solidFill>
              <a:srgbClr val="2A5A6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medical device — educational demonstration only.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Patidar   |   PES1PGE25DS049   |   PES University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355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Dr. Shylaja S. Sharath, HOD, Dept. of CSE, PES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2026-08-26T10:15:47Z</dcterms:created>
  <dcterms:modified xsi:type="dcterms:W3CDTF">2026-08-26T10:15:47Z</dcterms:modified>
</cp:coreProperties>
</file>